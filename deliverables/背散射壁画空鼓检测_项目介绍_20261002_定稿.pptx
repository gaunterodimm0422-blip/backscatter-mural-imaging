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标题</a:t>
            </a:r>
          </a:p>
          <a:p>
            <a:endParaRPr/>
          </a:p>
          <a:p>
            <a:r>
              <a:t>### 讲述</a:t>
            </a:r>
          </a:p>
          <a:p>
            <a:endParaRPr/>
          </a:p>
          <a:p>
            <a:r>
              <a:t>今天介绍的是一个用伽马光子检测壁画空鼓的仿真项目。我们关心墙面背后是否有空气夹层，以及这片夹层沿墙面到哪里结束。整个测量方案只从壁画正面工作，利用一对方向相反的光子提供定位信息。接下来先解释探测头怎样接收光子、程序怎样得到候选散射点，再介绍怎样把这些点转成空鼓边界判断。目前已经完成构型比较、统计判定和厚度扫描。最后会说明两项暂定技术重点，以及从仿真走到真实装置还缺什么。</a:t>
            </a:r>
          </a:p>
          <a:p>
            <a:endParaRPr/>
          </a:p>
          <a:p>
            <a:r>
              <a:t>### 来源</a:t>
            </a:r>
          </a:p>
          <a:p>
            <a:endParaRPr/>
          </a:p>
          <a:p>
            <a:r>
              <a:t>- `C:/Users/HOUWENDI/Documents/beisanshe/deliverables/仿真论文框架逐项说明_20260930.md`：第7–13、78–90、466–468行。</a:t>
            </a:r>
          </a:p>
          <a:p>
            <a:endParaRPr/>
          </a:p>
          <a:p>
            <a:r>
              <a:t>### 必要限制</a:t>
            </a:r>
          </a:p>
          <a:p>
            <a:endParaRPr/>
          </a:p>
          <a:p>
            <a:r>
              <a:t>本次介绍是已完成仿真及分析，不声称已经建成仪器，不提供现场安全性结论，不预先确认专利创新性。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壁画空鼓检测目标</a:t>
            </a:r>
          </a:p>
          <a:p>
            <a:endParaRPr/>
          </a:p>
          <a:p>
            <a:r>
              <a:t>### 讲述</a:t>
            </a:r>
          </a:p>
          <a:p>
            <a:endParaRPr/>
          </a:p>
          <a:p>
            <a:r>
              <a:t>先看表中的层次模型。我们把表面的泥层和后面的支撑体看作原本贴合的两部分，中间出现空气夹层，就构成模型中的空鼓。对这个项目来说，检测结果需要回答两个问题：有没有这片夹层，它沿墙面的边界在哪里。由于墙体背面通常无法布置探测器，我们选择单侧观测。横向边界是本阶段的主要输出，空气层深度和厚度只用来设置测试条件。当前先证明这条路线能在规定模型中检出和定位，再讨论它对真实壁画是否适用。</a:t>
            </a:r>
          </a:p>
          <a:p>
            <a:endParaRPr/>
          </a:p>
          <a:p>
            <a:r>
              <a:t>### 来源</a:t>
            </a:r>
          </a:p>
          <a:p>
            <a:endParaRPr/>
          </a:p>
          <a:p>
            <a:r>
              <a:t>- `C:/Users/HOUWENDI/Documents/beisanshe/deliverables/仿真论文框架逐项说明_20260930.md`：第38–60、78–84行。</a:t>
            </a:r>
          </a:p>
          <a:p>
            <a:endParaRPr/>
          </a:p>
          <a:p>
            <a:r>
              <a:t>### 必要限制</a:t>
            </a:r>
          </a:p>
          <a:p>
            <a:endParaRPr/>
          </a:p>
          <a:p>
            <a:r>
              <a:t>20 mm夹层是当前测试档位，不称为典型壁画缺陷尺寸。现有检测手段的正式文献比较仍缺，不声称优于敲击、红外、雷达或超声。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双511 keV符合标记原理</a:t>
            </a:r>
          </a:p>
          <a:p>
            <a:endParaRPr/>
          </a:p>
          <a:p>
            <a:r>
              <a:t>### 讲述</a:t>
            </a:r>
          </a:p>
          <a:p>
            <a:endParaRPr/>
          </a:p>
          <a:p>
            <a:r>
              <a:t>沿着图中的两条光路看。模型一次发出两个方向相反、能量都是511 keV的光子。D2接住其中一个，结合源的位置，就能估计另一个进入壁画的方向。这个光子在材料里转向后，返回光子由D1接收。D1测到的能量可以换算成一个散射角，命中位置则提供返回路径的终点。把入射方向、散射角和返回终点合起来，我们就能计算候选散射位置。两台探测器提供的信息互相补充，后面所有重建和判定都建立在这组读数上。</a:t>
            </a:r>
          </a:p>
          <a:p>
            <a:endParaRPr/>
          </a:p>
          <a:p>
            <a:r>
              <a:t>### 来源</a:t>
            </a:r>
          </a:p>
          <a:p>
            <a:endParaRPr/>
          </a:p>
          <a:p>
            <a:r>
              <a:t>- `C:/Users/HOUWENDI/Documents/beisanshe/deliverables/仿真论文框架逐项说明_20260930.md`：第62–76、100–122行。</a:t>
            </a:r>
          </a:p>
          <a:p>
            <a:r>
              <a:t>- `C:/Users/HOUWENDI/Documents/beisanshe/backscatter/kinematics.py`：第32–72行。</a:t>
            </a:r>
          </a:p>
          <a:p>
            <a:endParaRPr/>
          </a:p>
          <a:p>
            <a:r>
              <a:t>### 必要限制</a:t>
            </a:r>
          </a:p>
          <a:p>
            <a:endParaRPr/>
          </a:p>
          <a:p>
            <a:r>
              <a:t>符合标记属于已有研究路线，不宣称基本原理为本项目首创。方向估计存在误差。能量反解采用单次康普顿假设，多次散射和部分能量沉积会造成偏移。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M3紧凑探测头</a:t>
            </a:r>
          </a:p>
          <a:p>
            <a:endParaRPr/>
          </a:p>
          <a:p>
            <a:r>
              <a:t>### 讲述</a:t>
            </a:r>
          </a:p>
          <a:p>
            <a:endParaRPr/>
          </a:p>
          <a:p>
            <a:r>
              <a:t>这页看探测头的真实尺寸关系。贴近壁面的环形部分是D1，负责接收返回光子。上方的像素阵列是D2，负责标记入射方向，源位于两者之间。M3的D1外半径100毫米、厚10毫米，下表面距离壁面2.5毫米。中心孔内半径取12.5毫米，是为了让照射方向避开孔壁，并留出几何余量。D2的有效面是50乘50毫米。紧凑设计既要靠近被测面，也要保证两台探测器的接受范围互相配合，后面再用数据检查这样的取舍是否值得。</a:t>
            </a:r>
          </a:p>
          <a:p>
            <a:endParaRPr/>
          </a:p>
          <a:p>
            <a:r>
              <a:t>### 来源</a:t>
            </a:r>
          </a:p>
          <a:p>
            <a:endParaRPr/>
          </a:p>
          <a:p>
            <a:r>
              <a:t>- `C:/Users/HOUWENDI/Documents/beisanshe/deliverables/仿真论文框架逐项说明_20260930.md`：第153–175、275–291行。</a:t>
            </a:r>
          </a:p>
          <a:p>
            <a:r>
              <a:t>- `C:/Users/HOUWENDI/Documents/beisanshe/outputs/head_geometry_v3.png`：M3比例剖面及D1俯视图。</a:t>
            </a:r>
          </a:p>
          <a:p>
            <a:endParaRPr/>
          </a:p>
          <a:p>
            <a:r>
              <a:t>### 必要限制</a:t>
            </a:r>
          </a:p>
          <a:p>
            <a:endParaRPr/>
          </a:p>
          <a:p>
            <a:r>
              <a:t>源z=17.5 mm，位于D1环体z=2.5–12.5 mm上方，不写成源在环体内部。35°为当前模拟抽样锥，不能当作已经实现的物理准直器。几何设计尚未形成实物。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仿真模型和探测响应</a:t>
            </a:r>
          </a:p>
          <a:p>
            <a:endParaRPr/>
          </a:p>
          <a:p>
            <a:r>
              <a:t>### 讲述</a:t>
            </a:r>
          </a:p>
          <a:p>
            <a:endParaRPr/>
          </a:p>
          <a:p>
            <a:r>
              <a:t>我们先用GATE模拟光子在材料中的输运，再把理想读数转换成带探测误差的读数。体模包含5毫米细泥、35毫米粗泥和后面的支撑体，空鼓用空气替换对应区域。能量响应采用D1百分之八、D2百分之十五，统一指511 keV处的半高全宽。位置读出也做量化。之后才用D1的180到250 keV和D2的400到600 keV能窗筛选。这个顺序很重要，因为真实仪器面对的是有误差的读数，不能先用理想能量挑出最漂亮的一批事件。</a:t>
            </a:r>
          </a:p>
          <a:p>
            <a:endParaRPr/>
          </a:p>
          <a:p>
            <a:r>
              <a:t>### 来源</a:t>
            </a:r>
          </a:p>
          <a:p>
            <a:endParaRPr/>
          </a:p>
          <a:p>
            <a:r>
              <a:t>- `C:/Users/HOUWENDI/Documents/beisanshe/deliverables/仿真论文框架逐项说明_20260930.md`：第177–199行。</a:t>
            </a:r>
          </a:p>
          <a:p>
            <a:r>
              <a:t>- `C:/Users/HOUWENDI/Documents/beisanshe/configs/m3_edge_main_d2f15_20260923.json`：`detectors`、`selection`。</a:t>
            </a:r>
          </a:p>
          <a:p>
            <a:r>
              <a:t>- `C:/Users/HOUWENDI/Documents/beisanshe/backscatter/response.py`：第45–124行。</a:t>
            </a:r>
          </a:p>
          <a:p>
            <a:endParaRPr/>
          </a:p>
          <a:p>
            <a:r>
              <a:t>### 必要限制</a:t>
            </a:r>
          </a:p>
          <a:p>
            <a:endParaRPr/>
          </a:p>
          <a:p>
            <a:r>
              <a:t>材料密度为仿真假设，位置量化尺寸不等于已实测位置FWHM。当前使用理想背靠背源和模拟身份配对，未完成真实时间响应、偶然符合、死时间等采集建模。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闭式候选散射点重建</a:t>
            </a:r>
          </a:p>
          <a:p>
            <a:endParaRPr/>
          </a:p>
          <a:p>
            <a:r>
              <a:t>### 讲述</a:t>
            </a:r>
          </a:p>
          <a:p>
            <a:endParaRPr/>
          </a:p>
          <a:p>
            <a:r>
              <a:t>这里把一次事件画成一个三角形。源的位置已知，D2给出进入物体的方向，D1给出返回光子的终点和散射角。我们用正弦定理直接求出光子沿入射方向走了多远，再得到候选散射点，所以不需要反复迭代找位置。读图时先找源、候选点和D1这三个顶点，再对应旁边的公式。程序也会拒绝非法能量、退化几何和越界解。通过这些检查表示计算符合单次散射模型，真实的多次散射事件仍可能给出一个偏移但数学上合法的点。</a:t>
            </a:r>
          </a:p>
          <a:p>
            <a:endParaRPr/>
          </a:p>
          <a:p>
            <a:r>
              <a:t>### 来源</a:t>
            </a:r>
          </a:p>
          <a:p>
            <a:endParaRPr/>
          </a:p>
          <a:p>
            <a:r>
              <a:t>- `C:/Users/HOUWENDI/Documents/beisanshe/deliverables/仿真论文框架逐项说明_20260930.md`：第124–151行。</a:t>
            </a:r>
          </a:p>
          <a:p>
            <a:r>
              <a:t>- `C:/Users/HOUWENDI/Documents/beisanshe/backscatter/kinematics.py`：第90–199行，特别是第116–126、160–189行。</a:t>
            </a:r>
          </a:p>
          <a:p>
            <a:r>
              <a:t>- `C:/Users/HOUWENDI/Documents/beisanshe/outputs/closed_form_reconstruction.png`。</a:t>
            </a:r>
          </a:p>
          <a:p>
            <a:endParaRPr/>
          </a:p>
          <a:p>
            <a:r>
              <a:t>### 必要限制</a:t>
            </a:r>
          </a:p>
          <a:p>
            <a:endParaRPr/>
          </a:p>
          <a:p>
            <a:r>
              <a:t>合法性检查与单次散射识别不同。当前Python失败状态码为0–4，勿沿用旧框架的八个失败码。求解一致性自检不代表零成像误差。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深度分带、无空鼓参照与共享边界</a:t>
            </a:r>
          </a:p>
          <a:p>
            <a:endParaRPr/>
          </a:p>
          <a:p>
            <a:r>
              <a:t>### 讲述</a:t>
            </a:r>
          </a:p>
          <a:p>
            <a:endParaRPr/>
          </a:p>
          <a:p>
            <a:r>
              <a:t>先看两幅点密度图：左边是无空鼓参照，右边有空鼓。两幅形状相近，所以不能只靠点云外观判断缺陷。程序把候选点按重建深度分成四带，各带分别形成横向计数，并与参照比较。下方公式允许不同带的基线和变化幅度不同，但共同寻找一条横向边界和一个过渡宽度，相当于把几组有噪声的证据联合起来。深度带只是按重建结果分组，事件会因误差跨带迁移，不能把它们当作四个准确分开的真实材料层。绿色虚线只是展示模拟真值，不进入正式边界拟合。</a:t>
            </a:r>
          </a:p>
          <a:p>
            <a:endParaRPr/>
          </a:p>
          <a:p>
            <a:r>
              <a:t>### 来源</a:t>
            </a:r>
          </a:p>
          <a:p>
            <a:endParaRPr/>
          </a:p>
          <a:p>
            <a:r>
              <a:t>- `C:/Users/HOUWENDI/Documents/beisanshe/deliverables/仿真论文框架逐项说明_20260930.md`：第239–245、341–355行。</a:t>
            </a:r>
          </a:p>
          <a:p>
            <a:r>
              <a:t>- `C:/Users/HOUWENDI/Documents/beisanshe/outputs/imaging_demo_fig1.png`：点密度、归一化比值与四带剖面。</a:t>
            </a:r>
          </a:p>
          <a:p>
            <a:r>
              <a:t>- `C:/Users/HOUWENDI/Documents/beisanshe/m3/outputs/d2f15/m3_edge_result/m2_edge_result.json`：正式多带边界拟合。</a:t>
            </a:r>
          </a:p>
          <a:p>
            <a:endParaRPr/>
          </a:p>
          <a:p>
            <a:r>
              <a:t>### 必要限制</a:t>
            </a:r>
          </a:p>
          <a:p>
            <a:endParaRPr/>
          </a:p>
          <a:p>
            <a:r>
              <a:t>四带为0–8、8–15、15–25、25–35 mm重建深度。横向箱宽3 mm，参照计数不足30的箱不参与相应带拟合。展示计数比与模型c_b定义不同，不互换数值。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统计检验与负对照</a:t>
            </a:r>
          </a:p>
          <a:p>
            <a:endParaRPr/>
          </a:p>
          <a:p>
            <a:r>
              <a:t>### 讲述</a:t>
            </a:r>
          </a:p>
          <a:p>
            <a:endParaRPr/>
          </a:p>
          <a:p>
            <a:r>
              <a:t>有一条看起来像边界的曲线，还需要检查它是否超过正常涨落。我们比较有边界和无边界两个模型，把拟合改善记为T，再与事先冻结的阈值30比较。无空鼓蒙卡样本帮助确定这个门槛。读图时看三处：空鼓结果是否超过门槛，无空鼓对照是否低于门槛，换一份参照后边界是否稳定。本次M3负对照T为25.4，判断通过，但它高于本轮两千个纯泊松零样本的最大值，属于偏尾结果。因此我们保留通过与偏尾这两个事实，不把原因简单归结为已经证明的统计涨落。</a:t>
            </a:r>
          </a:p>
          <a:p>
            <a:endParaRPr/>
          </a:p>
          <a:p>
            <a:r>
              <a:t>### 来源</a:t>
            </a:r>
          </a:p>
          <a:p>
            <a:endParaRPr/>
          </a:p>
          <a:p>
            <a:r>
              <a:t>- `C:/Users/HOUWENDI/Documents/beisanshe/deliverables/仿真论文框架逐项说明_20260930.md`：第247–273行。</a:t>
            </a:r>
          </a:p>
          <a:p>
            <a:r>
              <a:t>- `C:/Users/HOUWENDI/Documents/beisanshe/m3/outputs/d2f15/m3_d2f15_summary.json`：`fits.m3_edge_result.T_null`、`T_split`、`cross`及`null_calibration.max`。</a:t>
            </a:r>
          </a:p>
          <a:p>
            <a:r>
              <a:t>- `C:/Users/HOUWENDI/Documents/beisanshe/outputs/m3_edge_ratio.png`：负对照、边界区间与T注记。</a:t>
            </a:r>
          </a:p>
          <a:p>
            <a:endParaRPr/>
          </a:p>
          <a:p>
            <a:r>
              <a:t>### 必要限制</a:t>
            </a:r>
          </a:p>
          <a:p>
            <a:endParaRPr/>
          </a:p>
          <a:p>
            <a:r>
              <a:t>T=30来自原3000次零样本标定并提前冻结，本轮2000次复查不替代原标定。不能直接套渐近卡方分布换算p值。有限负对照不证明现场误报率为零。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定位误差、置信区间与空间FWHM</a:t>
            </a:r>
          </a:p>
          <a:p>
            <a:endParaRPr/>
          </a:p>
          <a:p>
            <a:r>
              <a:t>### 讲述</a:t>
            </a:r>
          </a:p>
          <a:p>
            <a:endParaRPr/>
          </a:p>
          <a:p>
            <a:r>
              <a:t>在展示主结果前，先分清表中几个容易混淆的量。边界偏差描述这次估计离真实边界多远。68%区间描述给定模型和数据量下，边界位置参数还有多大的统计不确定性。空间FWHM则描述一个空间响应在半峰值处有多宽，需要用相应目标另行测定。深度残差的中央68%半宽又是另一种误差分布指标，并非FWHM。很多模糊事件一起拟合一条边界，可以得到很窄的定位区间，但不能据此推断系统能分开两个距离同样小的目标。</a:t>
            </a:r>
          </a:p>
          <a:p>
            <a:endParaRPr/>
          </a:p>
          <a:p>
            <a:r>
              <a:t>### 来源</a:t>
            </a:r>
          </a:p>
          <a:p>
            <a:endParaRPr/>
          </a:p>
          <a:p>
            <a:r>
              <a:t>- `C:/Users/HOUWENDI/Documents/beisanshe/deliverables/仿真论文框架逐项说明_20260930.md`：第223–229、293–299、400–406行。</a:t>
            </a:r>
          </a:p>
          <a:p>
            <a:r>
              <a:t>- `C:/Users/HOUWENDI/Documents/beisanshe/m3/outputs/d2f15/m3_d2f15_summary.json`：`fits.m3_edge_result.lo`、`hi`、`sigma`。</a:t>
            </a:r>
          </a:p>
          <a:p>
            <a:endParaRPr/>
          </a:p>
          <a:p>
            <a:r>
              <a:t>### 必要限制</a:t>
            </a:r>
          </a:p>
          <a:p>
            <a:endParaRPr/>
          </a:p>
          <a:p>
            <a:r>
              <a:t>正式汇总中的字段名`sigma`在这里存储区间半宽，PPT不可标成高斯标准差。0.07 mm偏差与0.33 mm区间半宽均不作为空间FWHM，也不作为双目标分辨距离。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M3轴心主结果</a:t>
            </a:r>
          </a:p>
          <a:p>
            <a:endParaRPr/>
          </a:p>
          <a:p>
            <a:r>
              <a:t>### 讲述</a:t>
            </a:r>
          </a:p>
          <a:p>
            <a:endParaRPr/>
          </a:p>
          <a:p>
            <a:r>
              <a:t>这张图先看横轴位置，再看四个深度带的计数变化。不同带的变化强弱可以不同，拟合共同寻找它们对应的横向边界。竖线附近的区间显示边界估计的不确定性。当前20毫米空鼓、边界靠近探测头轴心的主档，T为630.1，明显高于冻结阈值30。真实边界在负15毫米，拟合约负15.07毫米，偏差负0.07毫米。68%区间约为负15.40到负14.74毫米，半宽0.33毫米。这说明本次边界参数定位较稳定，同时仍需保留刚才讲过的模型和统计条件。</a:t>
            </a:r>
          </a:p>
          <a:p>
            <a:endParaRPr/>
          </a:p>
          <a:p>
            <a:r>
              <a:t>### 来源</a:t>
            </a:r>
          </a:p>
          <a:p>
            <a:endParaRPr/>
          </a:p>
          <a:p>
            <a:r>
              <a:t>- `C:/Users/HOUWENDI/Documents/beisanshe/m3/outputs/d2f15/m3_d2f15_summary.json`：`fits.m3_edge_result`。</a:t>
            </a:r>
          </a:p>
          <a:p>
            <a:r>
              <a:t>- `C:/Users/HOUWENDI/Documents/beisanshe/outputs/m3_edge_ratio.png`。</a:t>
            </a:r>
          </a:p>
          <a:p>
            <a:r>
              <a:t>- `C:/Users/HOUWENDI/Documents/beisanshe/deliverables/仿真论文框架逐项说明_20260930.md`：第293–299、400–406行。</a:t>
            </a:r>
          </a:p>
          <a:p>
            <a:endParaRPr/>
          </a:p>
          <a:p>
            <a:r>
              <a:t>### 必要限制</a:t>
            </a:r>
          </a:p>
          <a:p>
            <a:endParaRPr/>
          </a:p>
          <a:p>
            <a:r>
              <a:t>适用于本次M3、20–40 mm深的20 mm空气层、规定统计量及参照条件。0.33 mm为68%区间半宽，不能表述为系统空间FWHM。图中变化幅度与拟合c_b须按原图定义解释。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M2/M3构型收益与代价</a:t>
            </a:r>
          </a:p>
          <a:p>
            <a:endParaRPr/>
          </a:p>
          <a:p>
            <a:r>
              <a:t>### 讲述</a:t>
            </a:r>
          </a:p>
          <a:p>
            <a:endParaRPr/>
          </a:p>
          <a:p>
            <a:r>
              <a:t>对照表左边是旧构型M2，右边是主构型M3。读表时把定位结果与工程代价一起看。M3轴心边界区间半宽从0.51缩到0.33毫米，D1晶体质量从12.37降到2.05千克，大约只剩六分之一。代价是每真实湮没的选出率下降约百分之十四，相同选出计数需要约1.16倍时间。最深带的有效横向范围也从正负34.5缩到正负31.5毫米。因此M3在定位指标和重量上有收益，但并非所有指标都提高。两组同时改变多个尺寸，不能把全部改善归给某一个参数。</a:t>
            </a:r>
          </a:p>
          <a:p>
            <a:endParaRPr/>
          </a:p>
          <a:p>
            <a:r>
              <a:t>### 来源</a:t>
            </a:r>
          </a:p>
          <a:p>
            <a:endParaRPr/>
          </a:p>
          <a:p>
            <a:r>
              <a:t>- `C:/Users/HOUWENDI/Documents/beisanshe/m3/outputs/d2f15/m3_d2f15_summary.json`：`fits.m3_edge_result`、`fov_windows_head_mm`。</a:t>
            </a:r>
          </a:p>
          <a:p>
            <a:r>
              <a:t>- `C:/Users/HOUWENDI/Documents/beisanshe/m3/outputs/d2f15/m2_d2f15_summary.json`：`fits.m2_mural_edge`、`fov_windows_head_mm`。</a:t>
            </a:r>
          </a:p>
          <a:p>
            <a:r>
              <a:t>- `C:/Users/HOUWENDI/Documents/beisanshe/m3/outputs/d2f15/numbers_d2f15.json`：`rate`。</a:t>
            </a:r>
          </a:p>
          <a:p>
            <a:r>
              <a:t>- `C:/Users/HOUWENDI/Documents/beisanshe/deliverables/仿真论文框架逐项说明_20260930.md`：第275–291、309–315、424–438行。</a:t>
            </a:r>
          </a:p>
          <a:p>
            <a:endParaRPr/>
          </a:p>
          <a:p>
            <a:r>
              <a:t>### 必要限制</a:t>
            </a:r>
          </a:p>
          <a:p>
            <a:endParaRPr/>
          </a:p>
          <a:p>
            <a:r>
              <a:t>质量减少83.4%，不称为降一个数量级。时间×1.16仅指理想条件下同选出计数，不承诺同定位精度时间或现场总时间。M2为对照组。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离轴边界定位</a:t>
            </a:r>
          </a:p>
          <a:p>
            <a:endParaRPr/>
          </a:p>
          <a:p>
            <a:r>
              <a:t>### 讲述</a:t>
            </a:r>
          </a:p>
          <a:p>
            <a:endParaRPr/>
          </a:p>
          <a:p>
            <a:r>
              <a:t>这一页把边界从探测头轴心逐渐移到侧边。先看三幅比值图，信号位置随边界移动，再看下方表格，比较真实位置与拟合位置。M3在离轴负8和负16毫米时，未做刻度校正的偏差约为正0.84和正1.21毫米。三点拟合的横向刻度k约为0.920，说明离轴位置仍略向中心收缩。操作上可以移动探测头，让边界靠近轴心，也可以用标定关系反算。侧边位置的68%区间明显变宽，提醒我们轴心定位区间不能直接套用到整个视场。</a:t>
            </a:r>
          </a:p>
          <a:p>
            <a:endParaRPr/>
          </a:p>
          <a:p>
            <a:r>
              <a:t>### 来源</a:t>
            </a:r>
          </a:p>
          <a:p>
            <a:endParaRPr/>
          </a:p>
          <a:p>
            <a:r>
              <a:t>- `C:/Users/HOUWENDI/Documents/beisanshe/outputs/imaging_demo_fig2.png`。</a:t>
            </a:r>
          </a:p>
          <a:p>
            <a:r>
              <a:t>- `C:/Users/HOUWENDI/Documents/beisanshe/m3/outputs/d2f15/m3_d2f15_summary.json`：`fits.m3_offset`、`fits.m3_offset2`、`calibration`。</a:t>
            </a:r>
          </a:p>
          <a:p>
            <a:r>
              <a:t>- `C:/Users/HOUWENDI/Documents/beisanshe/deliverables/仿真论文框架逐项说明_20260930.md`：第317–331行。</a:t>
            </a:r>
          </a:p>
          <a:p>
            <a:endParaRPr/>
          </a:p>
          <a:p>
            <a:r>
              <a:t>### 必要限制</a:t>
            </a:r>
          </a:p>
          <a:p>
            <a:endParaRPr/>
          </a:p>
          <a:p>
            <a:r>
              <a:t>M3只有三个标定点且共享参照场，尚缺独立点验证。负16 mm档区间不对称，图应采用正式`lo/hi`。两种操作模式有仿真依据，但未形成经过验证的现场流程。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F3空鼓厚度扫描</a:t>
            </a:r>
          </a:p>
          <a:p>
            <a:endParaRPr/>
          </a:p>
          <a:p>
            <a:r>
              <a:t>### 讲述</a:t>
            </a:r>
          </a:p>
          <a:p>
            <a:endParaRPr/>
          </a:p>
          <a:p>
            <a:r>
              <a:t>这张表从上到下比较20、10、5、3、2、1毫米六档空气层。先看检出是否通过，再看定位是否通过，最后检查区间和换参照差。20毫米两项都通过。10毫米的T为87.5，已经检出，但边界区间半宽4.02毫米，超过定位要求。5毫米及以下都未检出，不能把噪声拟合出的窄区间当作可靠定位。这里还有一个重要条件：所有空气层底面固定在深40毫米，所以越薄，上表面也越深。结果给出了本次界面条件下的通过档位，尚未分离厚度和埋深的影响。</a:t>
            </a:r>
          </a:p>
          <a:p>
            <a:endParaRPr/>
          </a:p>
          <a:p>
            <a:r>
              <a:t>### 来源</a:t>
            </a:r>
          </a:p>
          <a:p>
            <a:endParaRPr/>
          </a:p>
          <a:p>
            <a:r>
              <a:t>- `C:/Users/HOUWENDI/Documents/beisanshe/m3/outputs/d2f15/f3_thickness/f3_summary.json`：`criteria`、`rows`、`detection_limit_mm`、`localization_limit_mm`。</a:t>
            </a:r>
          </a:p>
          <a:p>
            <a:r>
              <a:t>- `C:/Users/HOUWENDI/Documents/beisanshe/deliverables/仿真论文框架逐项说明_20260930.md`：第365–384、416–422行。</a:t>
            </a:r>
          </a:p>
          <a:p>
            <a:endParaRPr/>
          </a:p>
          <a:p>
            <a:r>
              <a:t>### 必要限制</a:t>
            </a:r>
          </a:p>
          <a:p>
            <a:endParaRPr/>
          </a:p>
          <a:p>
            <a:r>
              <a:t>已扫描档位中最薄检出通过10 mm、最薄定位通过20 mm，不代表连续阈值恰为10/20 mm，更不代表测出了空气层厚度。每档仅一个随机实现并共享参照场，不能推广为任意埋深的通用极限。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两项暂定技术重点</a:t>
            </a:r>
          </a:p>
          <a:p>
            <a:endParaRPr/>
          </a:p>
          <a:p>
            <a:r>
              <a:t>### 讲述</a:t>
            </a:r>
          </a:p>
          <a:p>
            <a:endParaRPr/>
          </a:p>
          <a:p>
            <a:r>
              <a:t>如果把项目内容集中成两项技术重点，第一项是紧凑探测头：让环形D1靠近壁面，并把中心孔、源的位置和D2接受范围一起设计，平衡定位、重量与采集效率。第二项是多带统计判定：候选点按重建深度分组，与无空鼓参照比较，多带共享一条横向边界，再用统计检验和负对照判断。两项分别对应装置构型和读数处理，组成目前最清楚的技术方案。这里暂时把它们作为后续查新和交底的重点，是否具有可保护的区别特征，还需要与在先技术逐项比较。</a:t>
            </a:r>
          </a:p>
          <a:p>
            <a:endParaRPr/>
          </a:p>
          <a:p>
            <a:r>
              <a:t>### 来源</a:t>
            </a:r>
          </a:p>
          <a:p>
            <a:endParaRPr/>
          </a:p>
          <a:p>
            <a:r>
              <a:t>- `C:/Users/HOUWENDI/Documents/beisanshe/deliverables/仿真论文框架逐项说明_20260930.md`：第70–76、153–175、239–273行。</a:t>
            </a:r>
          </a:p>
          <a:p>
            <a:r>
              <a:t>- `C:/Users/HOUWENDI/Documents/beisanshe/项目文档/01_项目总账_现状结论与数字出处.md`：第276–317行，仅取技术方案候选，不沿用旧有益效果的过强表述。</a:t>
            </a:r>
          </a:p>
          <a:p>
            <a:endParaRPr/>
          </a:p>
          <a:p>
            <a:r>
              <a:t>### 必要限制</a:t>
            </a:r>
          </a:p>
          <a:p>
            <a:endParaRPr/>
          </a:p>
          <a:p>
            <a:r>
              <a:t>暂定重点不等于确认新颖性、创造性或授权前景。双511符合标记基本原理不作为本项目独占创新。当前不扩展到第三项独立标定专利或未实现技术支线。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实验实施缺口</a:t>
            </a:r>
          </a:p>
          <a:p>
            <a:endParaRPr/>
          </a:p>
          <a:p>
            <a:r>
              <a:t>### 讲述</a:t>
            </a:r>
          </a:p>
          <a:p>
            <a:endParaRPr/>
          </a:p>
          <a:p>
            <a:r>
              <a:t>从仿真走到实物，最先要接上真实采集链。程序现在知道哪些读数属于同一个模拟事件，实验里需要用时间戳和探测器信息完成配对，还要处理偶然符合、时间展宽和死时间。随后需要校准D1和D2读数，考虑有限源区、封装和实际背景，再用已知边界的标准样品检查定位。无空鼓参照如何取得、材料不一致会带来多大影响，也需要明确。源活度、采集时间和辐射剂量将决定现场可操作性。目前这些仍是实施与验证缺口，仿真结果先为它们提供可检验的目标。</a:t>
            </a:r>
          </a:p>
          <a:p>
            <a:endParaRPr/>
          </a:p>
          <a:p>
            <a:r>
              <a:t>### 来源</a:t>
            </a:r>
          </a:p>
          <a:p>
            <a:endParaRPr/>
          </a:p>
          <a:p>
            <a:r>
              <a:t>- `C:/Users/HOUWENDI/Documents/beisanshe/deliverables/仿真论文框架逐项说明_20260930.md`：第185–191、388–392、440–460行。</a:t>
            </a:r>
          </a:p>
          <a:p>
            <a:r>
              <a:t>- `C:/Users/HOUWENDI/Documents/beisanshe/backscatter/rootio.py`：第170–175、286–335行。</a:t>
            </a:r>
          </a:p>
          <a:p>
            <a:r>
              <a:t>- `C:/Users/HOUWENDI/Documents/beisanshe/backscatter/pipeline.py`：第69–75行。</a:t>
            </a:r>
          </a:p>
          <a:p>
            <a:endParaRPr/>
          </a:p>
          <a:p>
            <a:r>
              <a:t>### 必要限制</a:t>
            </a:r>
          </a:p>
          <a:p>
            <a:endParaRPr/>
          </a:p>
          <a:p>
            <a:r>
              <a:t>目前没有实验数据，不写实测性能或文物现场安全结论。正式边界拟合不使用散射点/次数真值，但现有配对仍使用模拟标签，因此不能称整条链已完全基于实验可观测量。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结论</a:t>
            </a:r>
          </a:p>
          <a:p>
            <a:endParaRPr/>
          </a:p>
          <a:p>
            <a:r>
              <a:t>### 讲述</a:t>
            </a:r>
          </a:p>
          <a:p>
            <a:endParaRPr/>
          </a:p>
          <a:p>
            <a:r>
              <a:t>最后把已经完成的工作收在一起。我们建立了单侧符合标记背散射的仿真与闭式候选点重建，用多深度带、无空鼓参照和共享边界模型完成统计判定。M3在当前20毫米界面空鼓主档中检出通过，轴心边界偏差约负0.07毫米，68%区间半宽0.33毫米。紧凑构型减轻了晶体，也付出了采集效率和深带视场的代价。厚度扫描则明确了薄档的失败范围。接下来先围绕紧凑探测头和多带统计判定整理技术方案，再依据查新和实施条件确定进一步验证内容。</a:t>
            </a:r>
          </a:p>
          <a:p>
            <a:endParaRPr/>
          </a:p>
          <a:p>
            <a:r>
              <a:t>### 来源</a:t>
            </a:r>
          </a:p>
          <a:p>
            <a:endParaRPr/>
          </a:p>
          <a:p>
            <a:r>
              <a:t>- `C:/Users/HOUWENDI/Documents/beisanshe/deliverables/仿真论文框架逐项说明_20260930.md`：第400–460、466–468行。</a:t>
            </a:r>
          </a:p>
          <a:p>
            <a:r>
              <a:t>- `C:/Users/HOUWENDI/Documents/beisanshe/m3/outputs/d2f15/m3_d2f15_summary.json`：`fits.m3_edge_result`。</a:t>
            </a:r>
          </a:p>
          <a:p>
            <a:r>
              <a:t>- `C:/Users/HOUWENDI/Documents/beisanshe/m3/outputs/d2f15/f3_thickness/f3_summary.json`：`rows`、通过档位。</a:t>
            </a:r>
          </a:p>
          <a:p>
            <a:endParaRPr/>
          </a:p>
          <a:p>
            <a:r>
              <a:t>### 必要限制</a:t>
            </a:r>
          </a:p>
          <a:p>
            <a:endParaRPr/>
          </a:p>
          <a:p>
            <a:r>
              <a:t>结论限定在已完成仿真条件。没有准确恢复空鼓深度和厚度，完整实验符合链、仪器性能及专利区别定位仍待完成。后续建议不视为已启动新仿真或样机任务。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D1FE43D-2B2F-484C-80CF-4DEFD2261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5CE4194-20E8-4C08-9F25-4C8B3CFCF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0AD2066-6598-4DAF-A027-9E16B4481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7D883F-ED25-463D-81D0-CA468796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6F91D3D-9027-41F9-BF6A-C060ED64F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5560A8F-8AF5-4A55-9FE4-F98EC1081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3B921C2-387F-489A-ADBF-2C72B451A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DB2D283-5EF4-40AC-A6C3-3036A8EC6C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56395D2-F3BF-4240-8A84-B3DF52F58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4FAB963-DB25-460B-B257-08306C3DF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8793EB5D-7BD2-406C-80C7-9837EAD0C553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双511 keV符合标记背散射成像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CFAE7E-0EEC-4C58-AE63-1FC6EFF383FA}"/>
              </a:ext>
            </a:extLst>
          </p:cNvPr>
          <p:cNvSpPr>
            <a:spLocks noGrp="1"/>
          </p:cNvSpPr>
          <p:nvPr/>
        </p:nvSpPr>
        <p:spPr>
          <a:xfrm>
            <a:off x="590550" y="100012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面向壁画空鼓检测的构型设计、候选点重建与统计判定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DEDDAB-6129-4877-959B-9E1E128B8505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0953750" cy="19050"/>
          </a:xfrm>
          <a:prstGeom prst="rect">
            <a:avLst/>
          </a:prstGeom>
          <a:solidFill>
            <a:srgbClr val="D6E1EB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8A274D-7FF5-4E3B-98FF-45712BAE56BF}"/>
              </a:ext>
            </a:extLst>
          </p:cNvPr>
          <p:cNvSpPr>
            <a:spLocks noGrp="1"/>
          </p:cNvSpPr>
          <p:nvPr/>
        </p:nvSpPr>
        <p:spPr>
          <a:xfrm>
            <a:off x="590550" y="6448425"/>
            <a:ext cx="10382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项目介绍 · 2026年10月2日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7976BE-CFED-426A-BE4C-337F66141902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6544F6-1D9A-4905-A548-4086BF5AD212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1038225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435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从单侧观测</a:t>
            </a:r>
          </a:p>
          <a:p>
            <a:pPr algn="l">
              <a:defRPr sz="435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到空鼓横向边界定位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F3840A-3760-4182-B488-B04B6F0C76ED}"/>
              </a:ext>
            </a:extLst>
          </p:cNvPr>
          <p:cNvSpPr>
            <a:spLocks noGrp="1"/>
          </p:cNvSpPr>
          <p:nvPr/>
        </p:nvSpPr>
        <p:spPr>
          <a:xfrm>
            <a:off x="647700" y="3857625"/>
            <a:ext cx="10906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0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rPr>
              <a:t>GATE / Geant4 输运仿真  +  闭式几何重建  +  多深度带联合判定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DBEA4A-4473-4760-B8AE-B39B8B5753FE}"/>
              </a:ext>
            </a:extLst>
          </p:cNvPr>
          <p:cNvSpPr>
            <a:spLocks noGrp="1"/>
          </p:cNvSpPr>
          <p:nvPr/>
        </p:nvSpPr>
        <p:spPr>
          <a:xfrm>
            <a:off x="647700" y="4914900"/>
            <a:ext cx="10096500" cy="19050"/>
          </a:xfrm>
          <a:prstGeom prst="rect">
            <a:avLst/>
          </a:prstGeom>
          <a:solidFill>
            <a:srgbClr val="D6E1EB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AFBF77-3363-476F-A2E4-EB55D9671D0D}"/>
              </a:ext>
            </a:extLst>
          </p:cNvPr>
          <p:cNvSpPr>
            <a:spLocks noGrp="1"/>
          </p:cNvSpPr>
          <p:nvPr/>
        </p:nvSpPr>
        <p:spPr>
          <a:xfrm>
            <a:off x="647700" y="5267325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当前主构型：M3     │     对照构型：M2     │     正式响应口径：D2 15%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735C6E-89B8-4455-A3BA-86F3ADFE78D3}"/>
              </a:ext>
            </a:extLst>
          </p:cNvPr>
          <p:cNvSpPr>
            <a:spLocks noGrp="1"/>
          </p:cNvSpPr>
          <p:nvPr/>
        </p:nvSpPr>
        <p:spPr>
          <a:xfrm>
            <a:off x="647700" y="58959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已完成仿真与分析；尚无实验数据</a:t>
            </a:r>
          </a:p>
        </p:txBody>
      </p:sp>
    </p:spTree>
    <p:extLst>
      <p:ext uri="{BB962C8B-B14F-4D97-AF65-F5344CB8AC3E}">
        <p14:creationId xmlns:p14="http://schemas.microsoft.com/office/powerpoint/2010/main" val="141434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4B1B7DC-9452-4890-A12B-E7EF0E00D242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研究目标：检出空鼓，并定位其横向边界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13AE80-4727-49E1-83F3-36E2F4F9FD01}"/>
              </a:ext>
            </a:extLst>
          </p:cNvPr>
          <p:cNvSpPr>
            <a:spLocks noGrp="1"/>
          </p:cNvSpPr>
          <p:nvPr/>
        </p:nvSpPr>
        <p:spPr>
          <a:xfrm>
            <a:off x="590550" y="100012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单侧检测模型；当前主要输出不是空鼓深度或厚度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9DF92F-6367-4469-8EE9-ACAA12F95311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0953750" cy="19050"/>
          </a:xfrm>
          <a:prstGeom prst="rect">
            <a:avLst/>
          </a:prstGeom>
          <a:solidFill>
            <a:srgbClr val="D6E1EB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F29A71-6898-47F1-8A04-63451DE94C68}"/>
              </a:ext>
            </a:extLst>
          </p:cNvPr>
          <p:cNvSpPr>
            <a:spLocks noGrp="1"/>
          </p:cNvSpPr>
          <p:nvPr/>
        </p:nvSpPr>
        <p:spPr>
          <a:xfrm>
            <a:off x="590550" y="6448425"/>
            <a:ext cx="10382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正式分析：D1 8%、D2 15% FWHM @511 keV；本报告全部为仿真结果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8FE380-D99C-4387-A16E-743EB8AD58B0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188249-5B1F-4AEF-A5B0-0AEF26BB243D}"/>
              </a:ext>
            </a:extLst>
          </p:cNvPr>
          <p:cNvSpPr>
            <a:spLocks noGrp="1"/>
          </p:cNvSpPr>
          <p:nvPr/>
        </p:nvSpPr>
        <p:spPr>
          <a:xfrm>
            <a:off x="628650" y="1781175"/>
            <a:ext cx="10668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4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rPr>
              <a:t>空鼓 = 地仗中出现的空气夹层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8C43FD7-3507-4D31-BD2D-044AB42E7026}"/>
              </a:ext>
            </a:extLst>
          </p:cNvPr>
          <p:cNvGraphicFramePr/>
          <p:nvPr/>
        </p:nvGraphicFramePr>
        <p:xfrm>
          <a:off x="647700" y="2428875"/>
          <a:ext cx="10858500" cy="2714625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模型层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深度范围 / mm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细泥层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0–5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密度1.70 g/cm³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粗泥层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5–40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密度1.70 g/cm³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支撑体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40–140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密度2.20 g/cm³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主档空气层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20–40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厚20 mm，半平面缺陷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A41ACE67-C296-42B3-B009-356EF763C075}"/>
              </a:ext>
            </a:extLst>
          </p:cNvPr>
          <p:cNvSpPr>
            <a:spLocks noGrp="1"/>
          </p:cNvSpPr>
          <p:nvPr/>
        </p:nvSpPr>
        <p:spPr>
          <a:xfrm>
            <a:off x="647700" y="54292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判定两件事：是否检出？横向边界在哪里？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EFE8E6D-75DF-4E7C-BED7-12235774C36C}"/>
              </a:ext>
            </a:extLst>
          </p:cNvPr>
          <p:cNvSpPr>
            <a:spLocks noGrp="1"/>
          </p:cNvSpPr>
          <p:nvPr/>
        </p:nvSpPr>
        <p:spPr>
          <a:xfrm>
            <a:off x="647700" y="5943600"/>
            <a:ext cx="10858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材料密度与缺陷尺寸为测试模型设置；不代表已确认的典型现场缺陷。</a:t>
            </a:r>
          </a:p>
        </p:txBody>
      </p:sp>
    </p:spTree>
    <p:extLst>
      <p:ext uri="{BB962C8B-B14F-4D97-AF65-F5344CB8AC3E}">
        <p14:creationId xmlns:p14="http://schemas.microsoft.com/office/powerpoint/2010/main" val="967021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4A994E3-37C8-49DA-B41F-09C364D01AE8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符合标记为康普顿重建提供入射方向约束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49A869B-8360-4F96-A638-2EF7AAE173C9}"/>
              </a:ext>
            </a:extLst>
          </p:cNvPr>
          <p:cNvSpPr>
            <a:spLocks noGrp="1"/>
          </p:cNvSpPr>
          <p:nvPr/>
        </p:nvSpPr>
        <p:spPr>
          <a:xfrm>
            <a:off x="590550" y="100012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D2标记方向；D1测量返回光子的能量和命中位置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C82EF2-AD1B-4D62-ACD2-9B3DC195AD11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0953750" cy="19050"/>
          </a:xfrm>
          <a:prstGeom prst="rect">
            <a:avLst/>
          </a:prstGeom>
          <a:solidFill>
            <a:srgbClr val="D6E1EB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128948-C8F3-4AA9-BA2C-B8D8E8A6E810}"/>
              </a:ext>
            </a:extLst>
          </p:cNvPr>
          <p:cNvSpPr>
            <a:spLocks noGrp="1"/>
          </p:cNvSpPr>
          <p:nvPr/>
        </p:nvSpPr>
        <p:spPr>
          <a:xfrm>
            <a:off x="590550" y="6448425"/>
            <a:ext cx="10382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原理示意：outputs/cone_origin.png；输运源为理想反向511 keV光子对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22EA98-1A4E-4015-B44B-FC9DD2FA0097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8027B4F-C284-4ACC-9267-8982AF6DC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6305" y="1733550"/>
            <a:ext cx="4415765" cy="41719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83C15F7-F672-4C1F-B6DB-9AEA2C61D331}"/>
              </a:ext>
            </a:extLst>
          </p:cNvPr>
          <p:cNvSpPr>
            <a:spLocks noGrp="1"/>
          </p:cNvSpPr>
          <p:nvPr/>
        </p:nvSpPr>
        <p:spPr>
          <a:xfrm>
            <a:off x="5905500" y="1838325"/>
            <a:ext cx="5619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rPr>
              <a:t>① D2 → 入射方向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780824-5C0D-4DEB-954D-C72FF5D361AF}"/>
              </a:ext>
            </a:extLst>
          </p:cNvPr>
          <p:cNvSpPr>
            <a:spLocks noGrp="1"/>
          </p:cNvSpPr>
          <p:nvPr/>
        </p:nvSpPr>
        <p:spPr>
          <a:xfrm>
            <a:off x="5905500" y="2343150"/>
            <a:ext cx="5619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已知源位置S，由D2命中T估计</a:t>
            </a:r>
          </a:p>
          <a:p>
            <a:pPr algn="l">
              <a:defRPr sz="187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另一光子的反向入射方向v。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F2FEA9-BA61-439A-89A1-6AE0F1841CF3}"/>
              </a:ext>
            </a:extLst>
          </p:cNvPr>
          <p:cNvSpPr>
            <a:spLocks noGrp="1"/>
          </p:cNvSpPr>
          <p:nvPr/>
        </p:nvSpPr>
        <p:spPr>
          <a:xfrm>
            <a:off x="5905500" y="3467100"/>
            <a:ext cx="5619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rPr>
              <a:t>② D1 → 散射角与返回终点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FB8E50-FE42-4822-B077-E743757E9A92}"/>
              </a:ext>
            </a:extLst>
          </p:cNvPr>
          <p:cNvSpPr>
            <a:spLocks noGrp="1"/>
          </p:cNvSpPr>
          <p:nvPr/>
        </p:nvSpPr>
        <p:spPr>
          <a:xfrm>
            <a:off x="5905500" y="3971925"/>
            <a:ext cx="5619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D1命中H，返回能量E′给出θ。</a:t>
            </a:r>
          </a:p>
          <a:p>
            <a:pPr algn="l">
              <a:defRPr sz="187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康普顿约束与入射直线联合定位。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09990A-A4EB-44B1-A48C-623A89ED9BDE}"/>
              </a:ext>
            </a:extLst>
          </p:cNvPr>
          <p:cNvSpPr>
            <a:spLocks noGrp="1"/>
          </p:cNvSpPr>
          <p:nvPr/>
        </p:nvSpPr>
        <p:spPr>
          <a:xfrm>
            <a:off x="647700" y="5924550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rPr>
              <a:t>单次散射且返回光子全吸收时：cos θ = 2 − 511 / E′（E′单位keV）</a:t>
            </a:r>
          </a:p>
        </p:txBody>
      </p:sp>
    </p:spTree>
    <p:extLst>
      <p:ext uri="{BB962C8B-B14F-4D97-AF65-F5344CB8AC3E}">
        <p14:creationId xmlns:p14="http://schemas.microsoft.com/office/powerpoint/2010/main" val="954868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1F04332-828C-4D58-B84A-5774B67826D8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紧凑探测头：缩小D1，并靠近被测表面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3D1440-0E6E-4A2D-84E4-E51A82E7EB68}"/>
              </a:ext>
            </a:extLst>
          </p:cNvPr>
          <p:cNvSpPr>
            <a:spLocks noGrp="1"/>
          </p:cNvSpPr>
          <p:nvPr/>
        </p:nvSpPr>
        <p:spPr>
          <a:xfrm>
            <a:off x="590550" y="100012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以被测表面z=0为基准，+z朝向探测器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F05593-7D1A-4112-82AF-E1E548FB2EF4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0953750" cy="19050"/>
          </a:xfrm>
          <a:prstGeom prst="rect">
            <a:avLst/>
          </a:prstGeom>
          <a:solidFill>
            <a:srgbClr val="D6E1EB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D989F7-E4A2-4586-9DA8-984259A18BBE}"/>
              </a:ext>
            </a:extLst>
          </p:cNvPr>
          <p:cNvSpPr>
            <a:spLocks noGrp="1"/>
          </p:cNvSpPr>
          <p:nvPr/>
        </p:nvSpPr>
        <p:spPr>
          <a:xfrm>
            <a:off x="590550" y="6448425"/>
            <a:ext cx="10382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几何：m3_edge_main_d2f15_20260923.json；原图仅提取D1俯视，不采用历史预测值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49EC29-4ACD-401B-A48A-B9BB874F47A0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317A24F-1D86-4491-8D96-E11527C2C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667155"/>
            <a:ext cx="4400550" cy="4447615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FBB2E6F-2E0D-483E-A57F-50C35D4DAF8E}"/>
              </a:ext>
            </a:extLst>
          </p:cNvPr>
          <p:cNvGraphicFramePr/>
          <p:nvPr/>
        </p:nvGraphicFramePr>
        <p:xfrm>
          <a:off x="5181600" y="1743075"/>
          <a:ext cx="6400800" cy="3282315"/>
        </p:xfrm>
        <a:graphic>
          <a:graphicData uri="http://schemas.openxmlformats.org/drawingml/2006/table">
            <a:tbl>
              <a:tblPr/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部件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M3几何参数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D1：GAGG环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内/外半径12.5 / 100 mm</a:t>
                      </a:r>
                    </a:p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厚10 mm；z=2.5–12.5 mm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源S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z=17.5 mm，位于D1上方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D2：GAGG阵列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50×50 mm有效面；厚20 mm</a:t>
                      </a:r>
                    </a:p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z=42.5–62.5 mm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抽样设置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入射半角35°，非物理准直器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7EABB9C5-D4E3-4E8F-B924-3295D82216E9}"/>
              </a:ext>
            </a:extLst>
          </p:cNvPr>
          <p:cNvSpPr>
            <a:spLocks noGrp="1"/>
          </p:cNvSpPr>
          <p:nvPr/>
        </p:nvSpPr>
        <p:spPr>
          <a:xfrm>
            <a:off x="5200650" y="5238750"/>
            <a:ext cx="633412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源 → D2中面35 mm；半宽25 mm，</a:t>
            </a:r>
          </a:p>
          <a:p>
            <a:pPr algn="l">
              <a:defRPr sz="1800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边缘接受半角约35.5°。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4E69D9-383D-4A89-9553-F78AC4D2DFE9}"/>
              </a:ext>
            </a:extLst>
          </p:cNvPr>
          <p:cNvSpPr>
            <a:spLocks noGrp="1"/>
          </p:cNvSpPr>
          <p:nvPr/>
        </p:nvSpPr>
        <p:spPr>
          <a:xfrm>
            <a:off x="5200650" y="6010275"/>
            <a:ext cx="6334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D1中心孔与入射锥匹配：孔壁径向余量约2 mm。</a:t>
            </a:r>
          </a:p>
        </p:txBody>
      </p:sp>
    </p:spTree>
    <p:extLst>
      <p:ext uri="{BB962C8B-B14F-4D97-AF65-F5344CB8AC3E}">
        <p14:creationId xmlns:p14="http://schemas.microsoft.com/office/powerpoint/2010/main" val="578800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E9CA1F6-7CE3-422F-BAC5-07D801246D72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仿真输运、探测响应与事件筛选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64B25F-B5E6-4E80-BF61-D133646F8B82}"/>
              </a:ext>
            </a:extLst>
          </p:cNvPr>
          <p:cNvSpPr>
            <a:spLocks noGrp="1"/>
          </p:cNvSpPr>
          <p:nvPr/>
        </p:nvSpPr>
        <p:spPr>
          <a:xfrm>
            <a:off x="590550" y="100012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先施加读出误差，再按能窗筛选；M2与M3统一D2 15%口径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8A3F1D-2524-490A-898A-FFFC88EB739E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0953750" cy="19050"/>
          </a:xfrm>
          <a:prstGeom prst="rect">
            <a:avLst/>
          </a:prstGeom>
          <a:solidFill>
            <a:srgbClr val="D6E1EB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9F88A4-C58D-42AB-8C26-0BC64E43E319}"/>
              </a:ext>
            </a:extLst>
          </p:cNvPr>
          <p:cNvSpPr>
            <a:spLocks noGrp="1"/>
          </p:cNvSpPr>
          <p:nvPr/>
        </p:nvSpPr>
        <p:spPr>
          <a:xfrm>
            <a:off x="590550" y="6448425"/>
            <a:ext cx="10382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设置：configs/m3_edge_main_d2f15_20260923.json；每个主档400万模拟初级事件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C0499B-B853-4858-A8EC-43AFC582DAA0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74E54CC-4407-4C25-9FDC-9F1627282262}"/>
              </a:ext>
            </a:extLst>
          </p:cNvPr>
          <p:cNvGraphicFramePr/>
          <p:nvPr/>
        </p:nvGraphicFramePr>
        <p:xfrm>
          <a:off x="647700" y="1790700"/>
          <a:ext cx="10858500" cy="3124200"/>
        </p:xfrm>
        <a:graphic>
          <a:graphicData uri="http://schemas.openxmlformats.org/drawingml/2006/table">
            <a:tbl>
              <a:tblPr/>
              <a:tblGrid>
                <a:gridCol w="447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484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D1：背散射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D2：标记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GAGG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GAGG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能量响应FWHM @511 keV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8%（40.88 keV）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15%（76.65 keV）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位置量化单元xyz / mm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1.55 × 1.55 × 5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× 1 × 2.5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选择能窗 / keV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180–250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400–600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6C8FA4AD-BC8F-45D7-B2D9-5D2532C69E1F}"/>
              </a:ext>
            </a:extLst>
          </p:cNvPr>
          <p:cNvSpPr>
            <a:spLocks noGrp="1"/>
          </p:cNvSpPr>
          <p:nvPr/>
        </p:nvSpPr>
        <p:spPr>
          <a:xfrm>
            <a:off x="666750" y="5191125"/>
            <a:ext cx="10763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rPr>
              <a:t>处理顺序：能量求和 → 高斯√E展宽 / 位置量化 → 筛选 → 重建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52C34F-4030-40B2-811A-B9559EDB694F}"/>
              </a:ext>
            </a:extLst>
          </p:cNvPr>
          <p:cNvSpPr>
            <a:spLocks noGrp="1"/>
          </p:cNvSpPr>
          <p:nvPr/>
        </p:nvSpPr>
        <p:spPr>
          <a:xfrm>
            <a:off x="666750" y="5734050"/>
            <a:ext cx="107632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当前按模拟身份配对并施加10 ns符合窗；真实时间配对、偶然符合与死时间尚未验证。</a:t>
            </a:r>
          </a:p>
        </p:txBody>
      </p:sp>
    </p:spTree>
    <p:extLst>
      <p:ext uri="{BB962C8B-B14F-4D97-AF65-F5344CB8AC3E}">
        <p14:creationId xmlns:p14="http://schemas.microsoft.com/office/powerpoint/2010/main" val="310373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8EC86C1-CEC5-473D-9A8E-8A552B1908EE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闭式求解：沿入射直线计算候选散射点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6F70CA-0855-46CC-9F03-32C5E1FDFECF}"/>
              </a:ext>
            </a:extLst>
          </p:cNvPr>
          <p:cNvSpPr>
            <a:spLocks noGrp="1"/>
          </p:cNvSpPr>
          <p:nvPr/>
        </p:nvSpPr>
        <p:spPr>
          <a:xfrm>
            <a:off x="590550" y="100012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理想单次康普顿模型；合法解不等于已识别为单次散射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0AC3B2-1FDB-488D-BF40-A9131BB66F53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0953750" cy="19050"/>
          </a:xfrm>
          <a:prstGeom prst="rect">
            <a:avLst/>
          </a:prstGeom>
          <a:solidFill>
            <a:srgbClr val="D6E1EB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3F072E-0DCC-4BB9-A2DB-068E93F04EDA}"/>
              </a:ext>
            </a:extLst>
          </p:cNvPr>
          <p:cNvSpPr>
            <a:spLocks noGrp="1"/>
          </p:cNvSpPr>
          <p:nvPr/>
        </p:nvSpPr>
        <p:spPr>
          <a:xfrm>
            <a:off x="590550" y="6448425"/>
            <a:ext cx="10382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实现：backscatter/kinematics.py；三角形图为构造自洽示例，不是GATE性能测量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921CFE-42D6-4EA8-9784-C03FA8714F76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4A6F2DA-1317-46BF-9984-1770A4C43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5491" y="1809750"/>
            <a:ext cx="6353743" cy="435292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C669E-7DFF-45D7-9E24-A69C69151B7E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454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S：源   T：D2命中   H：D1命中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89D2CD-C691-42AE-910B-ED925B77B30D}"/>
              </a:ext>
            </a:extLst>
          </p:cNvPr>
          <p:cNvSpPr>
            <a:spLocks noGrp="1"/>
          </p:cNvSpPr>
          <p:nvPr/>
        </p:nvSpPr>
        <p:spPr>
          <a:xfrm>
            <a:off x="7143750" y="2409825"/>
            <a:ext cx="45434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rPr>
              <a:t>v = −(T−S) / ‖T−S‖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8FF471-8A7B-44FD-BBBE-C5B84EE2A8F6}"/>
              </a:ext>
            </a:extLst>
          </p:cNvPr>
          <p:cNvSpPr>
            <a:spLocks noGrp="1"/>
          </p:cNvSpPr>
          <p:nvPr/>
        </p:nvSpPr>
        <p:spPr>
          <a:xfrm>
            <a:off x="7143750" y="2962275"/>
            <a:ext cx="45434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α = ∠(v, H−S)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903BC5-F334-4855-BE77-581C013F94AE}"/>
              </a:ext>
            </a:extLst>
          </p:cNvPr>
          <p:cNvSpPr>
            <a:spLocks noGrp="1"/>
          </p:cNvSpPr>
          <p:nvPr/>
        </p:nvSpPr>
        <p:spPr>
          <a:xfrm>
            <a:off x="7143750" y="3514725"/>
            <a:ext cx="45434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t = ‖H−S‖ sin(θ−α) / sin θ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EE990F-6457-4FC9-8EB3-CC29F40BB61E}"/>
              </a:ext>
            </a:extLst>
          </p:cNvPr>
          <p:cNvSpPr>
            <a:spLocks noGrp="1"/>
          </p:cNvSpPr>
          <p:nvPr/>
        </p:nvSpPr>
        <p:spPr>
          <a:xfrm>
            <a:off x="7143750" y="4295775"/>
            <a:ext cx="45434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4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rPr>
              <a:t>P = S + tv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60E402-6413-4FE6-9784-C4821E401967}"/>
              </a:ext>
            </a:extLst>
          </p:cNvPr>
          <p:cNvSpPr>
            <a:spLocks noGrp="1"/>
          </p:cNvSpPr>
          <p:nvPr/>
        </p:nvSpPr>
        <p:spPr>
          <a:xfrm>
            <a:off x="7143750" y="5067300"/>
            <a:ext cx="44386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拒绝非法能量、退化几何、θ≤α及越界路径。多次散射或部分沉积仍会造成合法点偏移。</a:t>
            </a:r>
          </a:p>
        </p:txBody>
      </p:sp>
    </p:spTree>
    <p:extLst>
      <p:ext uri="{BB962C8B-B14F-4D97-AF65-F5344CB8AC3E}">
        <p14:creationId xmlns:p14="http://schemas.microsoft.com/office/powerpoint/2010/main" val="1740367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485B339-722D-426F-B644-F607A19749E2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按重建深度分带，与无空鼓参照共同拟合边界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9F965F-28E0-41D0-9B20-9A723FD3BAED}"/>
              </a:ext>
            </a:extLst>
          </p:cNvPr>
          <p:cNvSpPr>
            <a:spLocks noGrp="1"/>
          </p:cNvSpPr>
          <p:nvPr/>
        </p:nvSpPr>
        <p:spPr>
          <a:xfrm>
            <a:off x="590550" y="100012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四带共用横向边界xₑ和过渡宽度w；每带基线与幅度自由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BE55D7-3418-454E-BC40-371C11CD679B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0953750" cy="19050"/>
          </a:xfrm>
          <a:prstGeom prst="rect">
            <a:avLst/>
          </a:prstGeom>
          <a:solidFill>
            <a:srgbClr val="D6E1EB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CD6F4A-567E-4CBB-BFE9-D1EDA9A12FE6}"/>
              </a:ext>
            </a:extLst>
          </p:cNvPr>
          <p:cNvSpPr>
            <a:spLocks noGrp="1"/>
          </p:cNvSpPr>
          <p:nvPr/>
        </p:nvSpPr>
        <p:spPr>
          <a:xfrm>
            <a:off x="590550" y="6448425"/>
            <a:ext cx="10382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图：imaging_demo_fig1.png的(a)(b)；正式边界估计：scripts/analyze_mural_edge.py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1122DB-73A6-4EBA-A546-85EB36127628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70ACF7E-FEDE-42E4-B2C1-97FCC816F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" y="1649593"/>
            <a:ext cx="11049000" cy="378741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6E8216-D026-4B46-8377-F6A2E427CBFD}"/>
              </a:ext>
            </a:extLst>
          </p:cNvPr>
          <p:cNvSpPr>
            <a:spLocks noGrp="1"/>
          </p:cNvSpPr>
          <p:nvPr/>
        </p:nvSpPr>
        <p:spPr>
          <a:xfrm>
            <a:off x="647700" y="5534025"/>
            <a:ext cx="10858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rPr>
              <a:t>归一化比值模型：R_b(x) = A_b [1 − c_b Φ((x−xₑ)/w)]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1F7025-5B03-4D7F-BC95-8DE1C0AC823C}"/>
              </a:ext>
            </a:extLst>
          </p:cNvPr>
          <p:cNvSpPr>
            <a:spLocks noGrp="1"/>
          </p:cNvSpPr>
          <p:nvPr/>
        </p:nvSpPr>
        <p:spPr>
          <a:xfrm>
            <a:off x="647700" y="5972175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四带0–8 / 8–15 / 15–25 / 25–35 mm；横向3 mm箱；每带参照箱计数≥30。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E20E23-690E-4D25-AC2F-CB7ECBD63ACF}"/>
              </a:ext>
            </a:extLst>
          </p:cNvPr>
          <p:cNvSpPr>
            <a:spLocks noGrp="1"/>
          </p:cNvSpPr>
          <p:nvPr/>
        </p:nvSpPr>
        <p:spPr>
          <a:xfrm>
            <a:off x="647700" y="6248400"/>
            <a:ext cx="10858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深度带≠真实材料层；图中虚线为展示用真值，不作为正式拟合输入。</a:t>
            </a:r>
          </a:p>
        </p:txBody>
      </p:sp>
    </p:spTree>
    <p:extLst>
      <p:ext uri="{BB962C8B-B14F-4D97-AF65-F5344CB8AC3E}">
        <p14:creationId xmlns:p14="http://schemas.microsoft.com/office/powerpoint/2010/main" val="1520200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8C2664A2-7679-499F-B6E0-DBEB3F33F54D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用冻结检验量判定缺陷，并检查负对照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8CFFAA-2DB0-48D8-8794-F8678D0CD042}"/>
              </a:ext>
            </a:extLst>
          </p:cNvPr>
          <p:cNvSpPr>
            <a:spLocks noGrp="1"/>
          </p:cNvSpPr>
          <p:nvPr/>
        </p:nvSpPr>
        <p:spPr>
          <a:xfrm>
            <a:off x="590550" y="100012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H₀：横向比值恒定；H₁：共享边界台阶；T=2(ℓ₁−ℓ₀)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DEE407-1D21-4742-8A75-D60CF2A8793B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0953750" cy="19050"/>
          </a:xfrm>
          <a:prstGeom prst="rect">
            <a:avLst/>
          </a:prstGeom>
          <a:solidFill>
            <a:srgbClr val="D6E1EB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A95F22-E4E3-4B7E-9010-108A7D981295}"/>
              </a:ext>
            </a:extLst>
          </p:cNvPr>
          <p:cNvSpPr>
            <a:spLocks noGrp="1"/>
          </p:cNvSpPr>
          <p:nvPr/>
        </p:nvSpPr>
        <p:spPr>
          <a:xfrm>
            <a:off x="590550" y="6448425"/>
            <a:ext cx="10382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T阈值30来自原3000次零样本标定；本轮2000次零样本仅作复查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CE914F-4551-41B3-B523-B0900ADB889D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61A491-17F4-4F8E-A48E-FDFB203E4F42}"/>
              </a:ext>
            </a:extLst>
          </p:cNvPr>
          <p:cNvSpPr>
            <a:spLocks noGrp="1"/>
          </p:cNvSpPr>
          <p:nvPr/>
        </p:nvSpPr>
        <p:spPr>
          <a:xfrm>
            <a:off x="657225" y="1647825"/>
            <a:ext cx="6143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纵轴：计数比值；水平虚线1.0表示无差异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FBF960-8480-41C4-A8C6-2C84D7F7E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71377" y="2028825"/>
            <a:ext cx="5353396" cy="3943350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EEEF9DA-AB54-4389-8E0D-54BFC2C2C5CC}"/>
              </a:ext>
            </a:extLst>
          </p:cNvPr>
          <p:cNvGraphicFramePr/>
          <p:nvPr/>
        </p:nvGraphicFramePr>
        <p:xfrm>
          <a:off x="7096125" y="1847850"/>
          <a:ext cx="4495800" cy="2990850"/>
        </p:xfrm>
        <a:graphic>
          <a:graphicData uri="http://schemas.openxmlformats.org/drawingml/2006/table">
            <a:tbl>
              <a:tblPr/>
              <a:tblGrid>
                <a:gridCol w="24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17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M3结果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17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无空鼓独立参照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 = 25.40 &lt; 30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17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无空鼓随机对半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 = 8.35 &lt; 30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17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本轮2000次零样本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最大T = 23.44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17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主档换参照差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−0.293 mm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50CF7E95-CD41-4C44-9C90-8514BE73EEFD}"/>
              </a:ext>
            </a:extLst>
          </p:cNvPr>
          <p:cNvSpPr>
            <a:spLocks noGrp="1"/>
          </p:cNvSpPr>
          <p:nvPr/>
        </p:nvSpPr>
        <p:spPr>
          <a:xfrm>
            <a:off x="7115175" y="5191125"/>
            <a:ext cx="4448175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B55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B55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55D23"/>
                </a:solidFill>
                <a:latin typeface="Microsoft YaHei"/>
                <a:ea typeface="Microsoft YaHei"/>
                <a:cs typeface="Microsoft YaHei"/>
              </a:rPr>
              <a:t>负对照未触发，但25.40高于本轮纯泊松零样本最大值；偏尾原因未定。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4CD4B65-149A-432B-AAC3-0A8CC873AB4C}"/>
              </a:ext>
            </a:extLst>
          </p:cNvPr>
          <p:cNvSpPr>
            <a:spLocks noGrp="1"/>
          </p:cNvSpPr>
          <p:nvPr/>
        </p:nvSpPr>
        <p:spPr>
          <a:xfrm>
            <a:off x="638175" y="6096000"/>
            <a:ext cx="10858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使用条件二项似然，计入缺陷场与参照场两侧计数噪声；不直接套卡方渐近p值。</a:t>
            </a:r>
          </a:p>
        </p:txBody>
      </p:sp>
    </p:spTree>
    <p:extLst>
      <p:ext uri="{BB962C8B-B14F-4D97-AF65-F5344CB8AC3E}">
        <p14:creationId xmlns:p14="http://schemas.microsoft.com/office/powerpoint/2010/main" val="1414104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1A1041B-CCA7-4481-8A8D-ADD55A1ACF40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先区分：边界定位、参数区间与空间分辨率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0F86ACD-E851-4488-9DF1-E0802F275142}"/>
              </a:ext>
            </a:extLst>
          </p:cNvPr>
          <p:cNvSpPr>
            <a:spLocks noGrp="1"/>
          </p:cNvSpPr>
          <p:nvPr/>
        </p:nvSpPr>
        <p:spPr>
          <a:xfrm>
            <a:off x="590550" y="100012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许多模糊事件可以共同估计一条边界；这不等于分开亚毫米目标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E58226-7B89-48E0-94B9-E3EEA3EAF708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0953750" cy="19050"/>
          </a:xfrm>
          <a:prstGeom prst="rect">
            <a:avLst/>
          </a:prstGeom>
          <a:solidFill>
            <a:srgbClr val="D6E1EB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42C8C2-574A-4E3B-A269-8EB767B32270}"/>
              </a:ext>
            </a:extLst>
          </p:cNvPr>
          <p:cNvSpPr>
            <a:spLocks noGrp="1"/>
          </p:cNvSpPr>
          <p:nvPr/>
        </p:nvSpPr>
        <p:spPr>
          <a:xfrm>
            <a:off x="590550" y="6448425"/>
            <a:ext cx="10382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术语定义与正式JSON逐项核对；JSON字段sigma在这里保存的是区间半宽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D7760A1-1ED0-44E7-AC2D-27E6B454FC66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563AA35-9382-475C-946E-1CF6B4A85AF4}"/>
              </a:ext>
            </a:extLst>
          </p:cNvPr>
          <p:cNvGraphicFramePr/>
          <p:nvPr/>
        </p:nvGraphicFramePr>
        <p:xfrm>
          <a:off x="647700" y="1809750"/>
          <a:ext cx="10858500" cy="3333750"/>
        </p:xfrm>
        <a:graphic>
          <a:graphicData uri="http://schemas.openxmlformats.org/drawingml/2006/table">
            <a:tbl>
              <a:tblPr/>
              <a:tblGrid>
                <a:gridCol w="29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回答的问题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本项目示例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边界偏差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本次估计离真值多远？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xₑ − x真 = −0.073 mm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68%边界区间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参数估计还有多少统计不确定性？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轴心半宽0.332 mm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空间FWHM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空间响应在半峰值处有多宽？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M3此项尚未独立测定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深度残差中央68%半宽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候选点深度误差的中央分布多宽？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 10.93 mm；非FWHM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A831F415-6DB9-499F-B713-B41D6C770BFA}"/>
              </a:ext>
            </a:extLst>
          </p:cNvPr>
          <p:cNvSpPr>
            <a:spLocks noGrp="1"/>
          </p:cNvSpPr>
          <p:nvPr/>
        </p:nvSpPr>
        <p:spPr>
          <a:xfrm>
            <a:off x="666750" y="5553075"/>
            <a:ext cx="10572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B55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325" b="1">
                <a:solidFill>
                  <a:srgbClr val="B55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55D23"/>
                </a:solidFill>
                <a:latin typeface="Microsoft YaHei"/>
                <a:ea typeface="Microsoft YaHei"/>
                <a:cs typeface="Microsoft YaHei"/>
              </a:rPr>
              <a:t>0.332 mm不能写成系统空间分辨率，也不能写成双目标可分辨间距。</a:t>
            </a:r>
          </a:p>
        </p:txBody>
      </p:sp>
    </p:spTree>
    <p:extLst>
      <p:ext uri="{BB962C8B-B14F-4D97-AF65-F5344CB8AC3E}">
        <p14:creationId xmlns:p14="http://schemas.microsoft.com/office/powerpoint/2010/main" val="95776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CACD6AAE-1AF8-431F-A9E1-6049670C9177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M3轴心主档：检出通过，边界估计接近真值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8E96F0-7D0D-4532-848A-66FE7D76E80C}"/>
              </a:ext>
            </a:extLst>
          </p:cNvPr>
          <p:cNvSpPr>
            <a:spLocks noGrp="1"/>
          </p:cNvSpPr>
          <p:nvPr/>
        </p:nvSpPr>
        <p:spPr>
          <a:xfrm>
            <a:off x="590550" y="100012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空气层20–40 mm深、厚20 mm；各场400万模拟初级事件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0F3988-61DB-4B13-A4D3-A3BF3FDF9FD6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0953750" cy="19050"/>
          </a:xfrm>
          <a:prstGeom prst="rect">
            <a:avLst/>
          </a:prstGeom>
          <a:solidFill>
            <a:srgbClr val="D6E1EB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8606BE-8A55-4B05-9C82-174E8CBF4399}"/>
              </a:ext>
            </a:extLst>
          </p:cNvPr>
          <p:cNvSpPr>
            <a:spLocks noGrp="1"/>
          </p:cNvSpPr>
          <p:nvPr/>
        </p:nvSpPr>
        <p:spPr>
          <a:xfrm>
            <a:off x="590550" y="6448425"/>
            <a:ext cx="10382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正式数值：numbers_d2f15.json / m3_edge_result；曲线：m3_edge_ratio.png左面板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79754B-AFF1-4EDB-956D-88B2BB01C12A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38C872-F9B6-4ED9-86BC-52BB68EC6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1555" y="1638300"/>
            <a:ext cx="6182591" cy="42862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DAE1BB2-05B7-42B2-84DE-49F0946278C4}"/>
              </a:ext>
            </a:extLst>
          </p:cNvPr>
          <p:cNvSpPr>
            <a:spLocks noGrp="1"/>
          </p:cNvSpPr>
          <p:nvPr/>
        </p:nvSpPr>
        <p:spPr>
          <a:xfrm>
            <a:off x="7467600" y="1790700"/>
            <a:ext cx="4048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225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rPr>
              <a:t>T = 630.1  &gt;  30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5DADF5-4C5D-4A37-B820-4DA007FD7A5A}"/>
              </a:ext>
            </a:extLst>
          </p:cNvPr>
          <p:cNvSpPr>
            <a:spLocks noGrp="1"/>
          </p:cNvSpPr>
          <p:nvPr/>
        </p:nvSpPr>
        <p:spPr>
          <a:xfrm>
            <a:off x="7477125" y="2695575"/>
            <a:ext cx="4057650" cy="163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世界坐标边界</a:t>
            </a:r>
          </a:p>
          <a:p>
            <a:pPr algn="l">
              <a:defRPr sz="202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真值：−15.000 mm</a:t>
            </a:r>
          </a:p>
          <a:p>
            <a:pPr algn="l">
              <a:defRPr sz="202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拟合：−15.073 mm</a:t>
            </a:r>
          </a:p>
          <a:p>
            <a:pPr algn="l">
              <a:defRPr sz="202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偏差：−0.073 mm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C254BC-9CFE-4811-AD8A-D3D2FB189F0A}"/>
              </a:ext>
            </a:extLst>
          </p:cNvPr>
          <p:cNvSpPr>
            <a:spLocks noGrp="1"/>
          </p:cNvSpPr>
          <p:nvPr/>
        </p:nvSpPr>
        <p:spPr>
          <a:xfrm>
            <a:off x="7477125" y="4524375"/>
            <a:ext cx="4086225" cy="1171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68%区间</a:t>
            </a:r>
          </a:p>
          <a:p>
            <a:pPr algn="l">
              <a:defRPr sz="1875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[−15.403, −14.738] mm</a:t>
            </a:r>
          </a:p>
          <a:p>
            <a:pPr algn="l">
              <a:defRPr sz="1875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半宽：0.332 mm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BA8958-1666-457D-9213-A7AD29F909AF}"/>
              </a:ext>
            </a:extLst>
          </p:cNvPr>
          <p:cNvSpPr>
            <a:spLocks noGrp="1"/>
          </p:cNvSpPr>
          <p:nvPr/>
        </p:nvSpPr>
        <p:spPr>
          <a:xfrm>
            <a:off x="666750" y="6096000"/>
            <a:ext cx="10858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正式拟合c_b：2.45% / 12.45% / 31.53% / 36.25%</a:t>
            </a:r>
          </a:p>
        </p:txBody>
      </p:sp>
    </p:spTree>
    <p:extLst>
      <p:ext uri="{BB962C8B-B14F-4D97-AF65-F5344CB8AC3E}">
        <p14:creationId xmlns:p14="http://schemas.microsoft.com/office/powerpoint/2010/main" val="2125197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1EDCB52-3C73-4712-A6A4-DF3F9EE20115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M3相对M2：减轻晶体，改善定位指标，但有代价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6AA4CD-D60D-4BB6-A1A1-91FE01A89DFE}"/>
              </a:ext>
            </a:extLst>
          </p:cNvPr>
          <p:cNvSpPr>
            <a:spLocks noGrp="1"/>
          </p:cNvSpPr>
          <p:nvPr/>
        </p:nvSpPr>
        <p:spPr>
          <a:xfrm>
            <a:off x="590550" y="100012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M2是旧构型对照；多项几何同时变化，不能解释为单参数因果实验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C67511-4673-429F-B4C6-EFF302DAA2EE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0953750" cy="19050"/>
          </a:xfrm>
          <a:prstGeom prst="rect">
            <a:avLst/>
          </a:prstGeom>
          <a:solidFill>
            <a:srgbClr val="D6E1EB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BF0379-C1C0-41E7-B8C5-2A3CD2FA7055}"/>
              </a:ext>
            </a:extLst>
          </p:cNvPr>
          <p:cNvSpPr>
            <a:spLocks noGrp="1"/>
          </p:cNvSpPr>
          <p:nvPr/>
        </p:nvSpPr>
        <p:spPr>
          <a:xfrm>
            <a:off x="590550" y="6448425"/>
            <a:ext cx="10382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数据：m2/m3_d2f15_summary.json、numbers_d2f15.json；质量为D1晶体质量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E54DE8-7922-457A-A5A0-922D5DFCD61A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E143AD8-EFD4-46D4-8C48-CE01B0DCEA1A}"/>
              </a:ext>
            </a:extLst>
          </p:cNvPr>
          <p:cNvGraphicFramePr/>
          <p:nvPr/>
        </p:nvGraphicFramePr>
        <p:xfrm>
          <a:off x="647700" y="1781175"/>
          <a:ext cx="10858500" cy="3619500"/>
        </p:xfrm>
        <a:graphic>
          <a:graphicData uri="http://schemas.openxmlformats.org/drawingml/2006/table">
            <a:tbl>
              <a:tblPr/>
              <a:tblGrid>
                <a:gridCol w="537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M2对照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M3主构型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D1晶体质量 / kg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12.37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2.05（减少83.4%）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轴心68%边界区间半宽 / mm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0.512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0.332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深度残差中央68%半宽 / mm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15.09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10.93（减少27.6%）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理想每真实湮没选出率 / 10⁻³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2.894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2.487（下降14.0%）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最深带有效横向拟合窗 / mm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±34.5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±31.5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2D6A113D-51A2-47FC-AABF-B3FA1123785D}"/>
              </a:ext>
            </a:extLst>
          </p:cNvPr>
          <p:cNvSpPr>
            <a:spLocks noGrp="1"/>
          </p:cNvSpPr>
          <p:nvPr/>
        </p:nvSpPr>
        <p:spPr>
          <a:xfrm>
            <a:off x="666750" y="5648325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rPr>
              <a:t>相同理想活度、相同选出计数：M3约需1.163倍时间。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17576C-9159-4BCB-8730-05A0B7AC4658}"/>
              </a:ext>
            </a:extLst>
          </p:cNvPr>
          <p:cNvSpPr>
            <a:spLocks noGrp="1"/>
          </p:cNvSpPr>
          <p:nvPr/>
        </p:nvSpPr>
        <p:spPr>
          <a:xfrm>
            <a:off x="666750" y="6105525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不是实测采集时间，也不是相同定位精度的时间；效率比较已包含抽样立体角归一。</a:t>
            </a:r>
          </a:p>
        </p:txBody>
      </p:sp>
    </p:spTree>
    <p:extLst>
      <p:ext uri="{BB962C8B-B14F-4D97-AF65-F5344CB8AC3E}">
        <p14:creationId xmlns:p14="http://schemas.microsoft.com/office/powerpoint/2010/main" val="1618681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7448443A-1B33-40E9-8BF5-29392A052501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离轴位置仍可检出，但存在向轴心收缩的偏差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1B95CC-3516-463D-866C-6E9A4ED0DB0A}"/>
              </a:ext>
            </a:extLst>
          </p:cNvPr>
          <p:cNvSpPr>
            <a:spLocks noGrp="1"/>
          </p:cNvSpPr>
          <p:nvPr/>
        </p:nvSpPr>
        <p:spPr>
          <a:xfrm>
            <a:off x="590550" y="100012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三档边界共用参照；以下为探测头坐标，未做刻度校正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2796FA-7B1E-4B6B-B54F-A165026FE814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0953750" cy="19050"/>
          </a:xfrm>
          <a:prstGeom prst="rect">
            <a:avLst/>
          </a:prstGeom>
          <a:solidFill>
            <a:srgbClr val="D6E1EB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43680E-409F-49CE-AC56-EA0D6474A88F}"/>
              </a:ext>
            </a:extLst>
          </p:cNvPr>
          <p:cNvSpPr>
            <a:spLocks noGrp="1"/>
          </p:cNvSpPr>
          <p:nvPr/>
        </p:nvSpPr>
        <p:spPr>
          <a:xfrm>
            <a:off x="590550" y="6448425"/>
            <a:ext cx="10382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图：imaging_demo_fig2.png的(a)(b)(c)；数值：numbers_d2f15.json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F905A9-6B1E-4AD9-9FB5-6CEB6BA5225D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5BA02F3-CD5B-4CDB-8A9F-905E2863B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3321" y="1628775"/>
            <a:ext cx="10205357" cy="2381250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8273657-970D-4833-BA44-20E5762E91DD}"/>
              </a:ext>
            </a:extLst>
          </p:cNvPr>
          <p:cNvGraphicFramePr/>
          <p:nvPr/>
        </p:nvGraphicFramePr>
        <p:xfrm>
          <a:off x="647700" y="4105275"/>
          <a:ext cx="10858500" cy="182880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真值 / mm</a:t>
                      </a:r>
                    </a:p>
                  </a:txBody>
                  <a:tcPr marL="123825" marR="123825" marT="66675" marB="57150" anchor="ctr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拟合 / mm</a:t>
                      </a:r>
                    </a:p>
                  </a:txBody>
                  <a:tcPr marL="123825" marR="123825" marT="66675" marB="57150" anchor="ctr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偏差 / mm</a:t>
                      </a:r>
                    </a:p>
                  </a:txBody>
                  <a:tcPr marL="123825" marR="123825" marT="66675" marB="57150" anchor="ctr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68%区间 / mm</a:t>
                      </a:r>
                    </a:p>
                  </a:txBody>
                  <a:tcPr marL="123825" marR="123825" marT="66675" marB="57150" anchor="ctr">
                    <a:solidFill>
                      <a:srgbClr val="153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23825" marR="123825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−0.073</a:t>
                      </a:r>
                    </a:p>
                  </a:txBody>
                  <a:tcPr marL="123825" marR="123825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−0.073</a:t>
                      </a:r>
                    </a:p>
                  </a:txBody>
                  <a:tcPr marL="123825" marR="123825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[−0.403, +0.262]</a:t>
                      </a:r>
                    </a:p>
                  </a:txBody>
                  <a:tcPr marL="123825" marR="123825" marT="66675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−8</a:t>
                      </a:r>
                    </a:p>
                  </a:txBody>
                  <a:tcPr marL="123825" marR="123825" marT="66675" marB="571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−7.160</a:t>
                      </a:r>
                    </a:p>
                  </a:txBody>
                  <a:tcPr marL="123825" marR="123825" marT="66675" marB="571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+0.840</a:t>
                      </a:r>
                    </a:p>
                  </a:txBody>
                  <a:tcPr marL="123825" marR="123825" marT="66675" marB="571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[−7.556, −6.731]</a:t>
                      </a:r>
                    </a:p>
                  </a:txBody>
                  <a:tcPr marL="123825" marR="123825" marT="66675" marB="57150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−16</a:t>
                      </a:r>
                    </a:p>
                  </a:txBody>
                  <a:tcPr marL="123825" marR="123825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−14.788</a:t>
                      </a:r>
                    </a:p>
                  </a:txBody>
                  <a:tcPr marL="123825" marR="123825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+1.212</a:t>
                      </a:r>
                    </a:p>
                  </a:txBody>
                  <a:tcPr marL="123825" marR="123825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[−16.183, −13.837]</a:t>
                      </a:r>
                    </a:p>
                  </a:txBody>
                  <a:tcPr marL="123825" marR="123825" marT="66675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6FA30AF6-BABE-42AC-9765-E9D14BF894F4}"/>
              </a:ext>
            </a:extLst>
          </p:cNvPr>
          <p:cNvSpPr>
            <a:spLocks noGrp="1"/>
          </p:cNvSpPr>
          <p:nvPr/>
        </p:nvSpPr>
        <p:spPr>
          <a:xfrm>
            <a:off x="647700" y="6048375"/>
            <a:ext cx="10858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三点刻度k = 0.9197 ± 0.0195；−16 mm档偏差+1.21 mm。仍缺独立位置验证。</a:t>
            </a:r>
          </a:p>
        </p:txBody>
      </p:sp>
    </p:spTree>
    <p:extLst>
      <p:ext uri="{BB962C8B-B14F-4D97-AF65-F5344CB8AC3E}">
        <p14:creationId xmlns:p14="http://schemas.microsoft.com/office/powerpoint/2010/main" val="889415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67F229F7-EC6E-4FC9-A731-EACD1DF91100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F3厚度扫描：检出通过不等于可靠定位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B44FF7-A2F9-4B71-9C14-3CA912139149}"/>
              </a:ext>
            </a:extLst>
          </p:cNvPr>
          <p:cNvSpPr>
            <a:spLocks noGrp="1"/>
          </p:cNvSpPr>
          <p:nvPr/>
        </p:nvSpPr>
        <p:spPr>
          <a:xfrm>
            <a:off x="590550" y="100012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空气层下表面固定在深40 mm；因此厚度与埋深同时变化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366327-6C33-4F9A-AB86-89F026C69E10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0953750" cy="19050"/>
          </a:xfrm>
          <a:prstGeom prst="rect">
            <a:avLst/>
          </a:prstGeom>
          <a:solidFill>
            <a:srgbClr val="D6E1EB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60D7D4-92C2-44ED-A436-478C533D6555}"/>
              </a:ext>
            </a:extLst>
          </p:cNvPr>
          <p:cNvSpPr>
            <a:spLocks noGrp="1"/>
          </p:cNvSpPr>
          <p:nvPr/>
        </p:nvSpPr>
        <p:spPr>
          <a:xfrm>
            <a:off x="590550" y="6448425"/>
            <a:ext cx="10382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数据：f3_thickness/f3_summary.json；主档复用，其余五档各400万事例，共用参照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DB7E3B-926A-4B25-A458-A9AA4626FCBF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CCB8898-79B2-419E-90AC-6DADE6B2B071}"/>
              </a:ext>
            </a:extLst>
          </p:cNvPr>
          <p:cNvGraphicFramePr/>
          <p:nvPr/>
        </p:nvGraphicFramePr>
        <p:xfrm>
          <a:off x="647700" y="1724025"/>
          <a:ext cx="10858500" cy="3476625"/>
        </p:xfrm>
        <a:graphic>
          <a:graphicData uri="http://schemas.openxmlformats.org/drawingml/2006/table">
            <a:tbl>
              <a:tblPr/>
              <a:tblGrid>
                <a:gridCol w="1171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6661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厚度</a:t>
                      </a:r>
                    </a:p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边界偏差</a:t>
                      </a:r>
                    </a:p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68%半宽</a:t>
                      </a:r>
                    </a:p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换参照差</a:t>
                      </a:r>
                    </a:p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检出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630.1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−0.07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0.33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−0.29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87.5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+1.57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4.02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−3.74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未通过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15.2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+6.06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1.14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+3.06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未通过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不判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17.4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−5.19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1.24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+13.91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未通过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不判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12.9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−7.86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1.55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+16.91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未通过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不判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9.2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+9.90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2.28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−0.09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未通过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不判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759DD70A-B8D3-4EED-8F33-196ADA29E602}"/>
              </a:ext>
            </a:extLst>
          </p:cNvPr>
          <p:cNvSpPr>
            <a:spLocks noGrp="1"/>
          </p:cNvSpPr>
          <p:nvPr/>
        </p:nvSpPr>
        <p:spPr>
          <a:xfrm>
            <a:off x="666750" y="5467350"/>
            <a:ext cx="10763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rPr>
              <a:t>本次已扫描档位：最薄检出通过10 mm；最薄定位通过20 mm。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6A8BC0-283D-4197-B8DF-68DE04F3FB38}"/>
              </a:ext>
            </a:extLst>
          </p:cNvPr>
          <p:cNvSpPr>
            <a:spLocks noGrp="1"/>
          </p:cNvSpPr>
          <p:nvPr/>
        </p:nvSpPr>
        <p:spPr>
          <a:xfrm>
            <a:off x="666750" y="5943600"/>
            <a:ext cx="107632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检出：T≥30且至少一深带c_b&gt;0；定位再要求|偏差|≤2 mm、半宽≤2 mm、换参照差≤5 mm。</a:t>
            </a:r>
          </a:p>
          <a:p>
            <a:pPr algn="l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未检出的薄档不解释定位区间；未给出通用厚度极限或重复实验检出概率。</a:t>
            </a:r>
          </a:p>
        </p:txBody>
      </p:sp>
    </p:spTree>
    <p:extLst>
      <p:ext uri="{BB962C8B-B14F-4D97-AF65-F5344CB8AC3E}">
        <p14:creationId xmlns:p14="http://schemas.microsoft.com/office/powerpoint/2010/main" val="1755418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37EA3C28-50C2-4039-82E4-1818AC53AD89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成果整理聚焦两项技术内容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6FD0DC-B6C1-4B1D-AD5D-43F970331346}"/>
              </a:ext>
            </a:extLst>
          </p:cNvPr>
          <p:cNvSpPr>
            <a:spLocks noGrp="1"/>
          </p:cNvSpPr>
          <p:nvPr/>
        </p:nvSpPr>
        <p:spPr>
          <a:xfrm>
            <a:off x="590550" y="100012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装置构型与数据处理相互配合；暂定保护方向，尚待在先技术逐项比对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D9EE7C-6EEA-4788-85CD-1A01A33FE03B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0953750" cy="19050"/>
          </a:xfrm>
          <a:prstGeom prst="rect">
            <a:avLst/>
          </a:prstGeom>
          <a:solidFill>
            <a:srgbClr val="D6E1EB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46523D-1810-4FE9-96B2-C8D1B41842B8}"/>
              </a:ext>
            </a:extLst>
          </p:cNvPr>
          <p:cNvSpPr>
            <a:spLocks noGrp="1"/>
          </p:cNvSpPr>
          <p:nvPr/>
        </p:nvSpPr>
        <p:spPr>
          <a:xfrm>
            <a:off x="590550" y="6448425"/>
            <a:ext cx="10382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本页为技术方案整理，不是专利权利要求，也不代表创新性已经确认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C697C8-C4A0-4F8F-BE30-C71A46E0B1FA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5EB0F6-4FE7-410A-A422-DE2E381FC498}"/>
              </a:ext>
            </a:extLst>
          </p:cNvPr>
          <p:cNvSpPr>
            <a:spLocks noGrp="1"/>
          </p:cNvSpPr>
          <p:nvPr/>
        </p:nvSpPr>
        <p:spPr>
          <a:xfrm>
            <a:off x="638175" y="1828800"/>
            <a:ext cx="142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rPr>
              <a:t>装置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B1B129-9DAB-4EE5-A983-B2241ED3444E}"/>
              </a:ext>
            </a:extLst>
          </p:cNvPr>
          <p:cNvSpPr>
            <a:spLocks noGrp="1"/>
          </p:cNvSpPr>
          <p:nvPr/>
        </p:nvSpPr>
        <p:spPr>
          <a:xfrm>
            <a:off x="2428875" y="1828800"/>
            <a:ext cx="8763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7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紧凑探测头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A405F7F-C7AF-48F4-835C-905EB19CE884}"/>
              </a:ext>
            </a:extLst>
          </p:cNvPr>
          <p:cNvSpPr>
            <a:spLocks noGrp="1"/>
          </p:cNvSpPr>
          <p:nvPr/>
        </p:nvSpPr>
        <p:spPr>
          <a:xfrm>
            <a:off x="2428875" y="2524125"/>
            <a:ext cx="85725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D1靠近被测面；中心孔、源位置和D2接受范围联合设计，</a:t>
            </a:r>
          </a:p>
          <a:p>
            <a:pPr algn="l">
              <a:defRPr sz="2100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平衡边界定位、晶体质量与有效计数。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14B98D-FC0E-466A-9A38-46A703BCC11D}"/>
              </a:ext>
            </a:extLst>
          </p:cNvPr>
          <p:cNvSpPr>
            <a:spLocks noGrp="1"/>
          </p:cNvSpPr>
          <p:nvPr/>
        </p:nvSpPr>
        <p:spPr>
          <a:xfrm>
            <a:off x="638175" y="3886200"/>
            <a:ext cx="10858500" cy="19050"/>
          </a:xfrm>
          <a:prstGeom prst="rect">
            <a:avLst/>
          </a:prstGeom>
          <a:solidFill>
            <a:srgbClr val="D6E1EB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0215EE1-A3D2-4543-A5F2-D200D0DCF9F2}"/>
              </a:ext>
            </a:extLst>
          </p:cNvPr>
          <p:cNvSpPr>
            <a:spLocks noGrp="1"/>
          </p:cNvSpPr>
          <p:nvPr/>
        </p:nvSpPr>
        <p:spPr>
          <a:xfrm>
            <a:off x="638175" y="4276725"/>
            <a:ext cx="142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D975CF-B2D8-4DCC-B7AC-36DF2A11CDF4}"/>
              </a:ext>
            </a:extLst>
          </p:cNvPr>
          <p:cNvSpPr>
            <a:spLocks noGrp="1"/>
          </p:cNvSpPr>
          <p:nvPr/>
        </p:nvSpPr>
        <p:spPr>
          <a:xfrm>
            <a:off x="2428875" y="4276725"/>
            <a:ext cx="90487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475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多重建深度带的共享边界统计判定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0AE3600-B33B-4ADF-92EA-EF6B2377BEED}"/>
              </a:ext>
            </a:extLst>
          </p:cNvPr>
          <p:cNvSpPr>
            <a:spLocks noGrp="1"/>
          </p:cNvSpPr>
          <p:nvPr/>
        </p:nvSpPr>
        <p:spPr>
          <a:xfrm>
            <a:off x="2428875" y="4962525"/>
            <a:ext cx="88963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重建深度分带 → 无空鼓参照 → 共享横向边界 → 统计检验，</a:t>
            </a:r>
          </a:p>
          <a:p>
            <a:pPr algn="l">
              <a:defRPr sz="2100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同时记录参数区间、负对照与换参照稳定性。</a:t>
            </a:r>
          </a:p>
        </p:txBody>
      </p:sp>
    </p:spTree>
    <p:extLst>
      <p:ext uri="{BB962C8B-B14F-4D97-AF65-F5344CB8AC3E}">
        <p14:creationId xmlns:p14="http://schemas.microsoft.com/office/powerpoint/2010/main" val="827275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04CE0AB-9530-4507-8D64-285FC4BFA5FC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从仿真到实物：需要补齐真实测量链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851930-6DB5-4D45-B78B-64BD8DA4C778}"/>
              </a:ext>
            </a:extLst>
          </p:cNvPr>
          <p:cNvSpPr>
            <a:spLocks noGrp="1"/>
          </p:cNvSpPr>
          <p:nvPr/>
        </p:nvSpPr>
        <p:spPr>
          <a:xfrm>
            <a:off x="590550" y="100012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仿真已给出可检验目标；当前没有实验结果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6F258F-BC48-4C8F-82F6-F2493867A9F8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0953750" cy="19050"/>
          </a:xfrm>
          <a:prstGeom prst="rect">
            <a:avLst/>
          </a:prstGeom>
          <a:solidFill>
            <a:srgbClr val="D6E1EB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B35FD6-221D-4344-9FA3-DB230ED3E8E8}"/>
              </a:ext>
            </a:extLst>
          </p:cNvPr>
          <p:cNvSpPr>
            <a:spLocks noGrp="1"/>
          </p:cNvSpPr>
          <p:nvPr/>
        </p:nvSpPr>
        <p:spPr>
          <a:xfrm>
            <a:off x="590550" y="6448425"/>
            <a:ext cx="10382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正式分析：D1 8%、D2 15% FWHM @511 keV；本报告全部为仿真结果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B8C488-BDA4-477A-BAB6-4789C2A21C04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525FC9B-6D00-4238-8E1D-5992B30B6C24}"/>
              </a:ext>
            </a:extLst>
          </p:cNvPr>
          <p:cNvGraphicFramePr/>
          <p:nvPr/>
        </p:nvGraphicFramePr>
        <p:xfrm>
          <a:off x="647700" y="1809750"/>
          <a:ext cx="10858500" cy="3333750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需要完成的验证</a:t>
                      </a:r>
                    </a:p>
                  </a:txBody>
                  <a:tcPr marL="123825" marR="123825" marT="95250" marB="85725" anchor="ctr">
                    <a:solidFill>
                      <a:srgbClr val="153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真实符合采集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时间戳配对；时间展宽、偶然符合、死时间与堆积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源与探测响应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有限活性区与封装；能量、位置及时间标定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参照与标准样品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无空鼓参照获取；材料不匹配；已知边界及独立位置</a:t>
                      </a:r>
                    </a:p>
                  </a:txBody>
                  <a:tcPr marL="123825" marR="123825" marT="95250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现场可实施性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真实计数率、采集时间、背景与剂量评估</a:t>
                      </a:r>
                    </a:p>
                  </a:txBody>
                  <a:tcPr marL="123825" marR="123825" marT="95250" marB="85725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00D3AA40-4D49-41D0-A8BD-0E893B3C5E84}"/>
              </a:ext>
            </a:extLst>
          </p:cNvPr>
          <p:cNvSpPr>
            <a:spLocks noGrp="1"/>
          </p:cNvSpPr>
          <p:nvPr/>
        </p:nvSpPr>
        <p:spPr>
          <a:xfrm>
            <a:off x="666750" y="5457825"/>
            <a:ext cx="10668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B55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1">
                <a:solidFill>
                  <a:srgbClr val="B55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55D23"/>
                </a:solidFill>
                <a:latin typeface="Microsoft YaHei"/>
                <a:ea typeface="Microsoft YaHei"/>
                <a:cs typeface="Microsoft YaHei"/>
              </a:rPr>
              <a:t>当前边界拟合不用散射点/次数真值；配对环节仍使用模拟身份标签。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9BF4D8-21BC-4A4F-AAAA-455F91E08F96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这一区别决定：现有结果是仿真可行性，不是完整实验采集链性能。</a:t>
            </a:r>
          </a:p>
        </p:txBody>
      </p:sp>
    </p:spTree>
    <p:extLst>
      <p:ext uri="{BB962C8B-B14F-4D97-AF65-F5344CB8AC3E}">
        <p14:creationId xmlns:p14="http://schemas.microsoft.com/office/powerpoint/2010/main" val="1027971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DFE0F1C0-EAB5-4B13-BAF7-304912BE4BEE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结论：仿真验证了边界检出与定位的可行性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7965B6-AE65-43B6-A8AF-5EA3F23169A1}"/>
              </a:ext>
            </a:extLst>
          </p:cNvPr>
          <p:cNvSpPr>
            <a:spLocks noGrp="1"/>
          </p:cNvSpPr>
          <p:nvPr/>
        </p:nvSpPr>
        <p:spPr>
          <a:xfrm>
            <a:off x="590550" y="100012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主构型M3；全部正式结果采用D2 15%响应口径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C9B88E-657B-4D9D-8C2D-8E2A470064BA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0953750" cy="19050"/>
          </a:xfrm>
          <a:prstGeom prst="rect">
            <a:avLst/>
          </a:prstGeom>
          <a:solidFill>
            <a:srgbClr val="D6E1EB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32BF82-2C98-4582-AEE3-F628FC61E95C}"/>
              </a:ext>
            </a:extLst>
          </p:cNvPr>
          <p:cNvSpPr>
            <a:spLocks noGrp="1"/>
          </p:cNvSpPr>
          <p:nvPr/>
        </p:nvSpPr>
        <p:spPr>
          <a:xfrm>
            <a:off x="590550" y="6448425"/>
            <a:ext cx="10382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数据：D2 15%正式分析；后续优先真实采集链与独立样品验证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36F41D-FCE0-4684-A27A-CF5E276AB8B3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C7C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5A01FA-22DC-45F9-A67C-C99611F0A94D}"/>
              </a:ext>
            </a:extLst>
          </p:cNvPr>
          <p:cNvSpPr>
            <a:spLocks noGrp="1"/>
          </p:cNvSpPr>
          <p:nvPr/>
        </p:nvSpPr>
        <p:spPr>
          <a:xfrm>
            <a:off x="619125" y="1790700"/>
            <a:ext cx="10763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71B06B-DFD5-4620-BDAA-5D3E69E47BD8}"/>
              </a:ext>
            </a:extLst>
          </p:cNvPr>
          <p:cNvSpPr>
            <a:spLocks noGrp="1"/>
          </p:cNvSpPr>
          <p:nvPr/>
        </p:nvSpPr>
        <p:spPr>
          <a:xfrm>
            <a:off x="619125" y="2295525"/>
            <a:ext cx="10763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符合标记输运模型、闭式候选点重建、多深度带共享边界与统计判定。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9F3785-6182-4DF9-91C1-C93505A99D4F}"/>
              </a:ext>
            </a:extLst>
          </p:cNvPr>
          <p:cNvSpPr>
            <a:spLocks noGrp="1"/>
          </p:cNvSpPr>
          <p:nvPr/>
        </p:nvSpPr>
        <p:spPr>
          <a:xfrm>
            <a:off x="619125" y="3219450"/>
            <a:ext cx="10763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rPr>
              <a:t>主结果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033F34-48D5-4E8E-BE14-3BB41C31D555}"/>
              </a:ext>
            </a:extLst>
          </p:cNvPr>
          <p:cNvSpPr>
            <a:spLocks noGrp="1"/>
          </p:cNvSpPr>
          <p:nvPr/>
        </p:nvSpPr>
        <p:spPr>
          <a:xfrm>
            <a:off x="619125" y="3724275"/>
            <a:ext cx="10763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20 mm主档：T=630.1；轴心偏差−0.073 mm；68%区间半宽0.332 mm。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C8AE74-8A4E-42AF-98C2-A09A65E9069D}"/>
              </a:ext>
            </a:extLst>
          </p:cNvPr>
          <p:cNvSpPr>
            <a:spLocks noGrp="1"/>
          </p:cNvSpPr>
          <p:nvPr/>
        </p:nvSpPr>
        <p:spPr>
          <a:xfrm>
            <a:off x="619125" y="4648200"/>
            <a:ext cx="10763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rPr>
              <a:t>能力边界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D3958F5-1044-4B3C-B922-70C35BF86FE8}"/>
              </a:ext>
            </a:extLst>
          </p:cNvPr>
          <p:cNvSpPr>
            <a:spLocks noGrp="1"/>
          </p:cNvSpPr>
          <p:nvPr/>
        </p:nvSpPr>
        <p:spPr>
          <a:xfrm>
            <a:off x="619125" y="5153025"/>
            <a:ext cx="10763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10 mm档可检出但定位未通过；5 mm及以下未检出。深度与厚度未准确恢复。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C5D9E4-594C-4F72-BB89-D6F412FA5130}"/>
              </a:ext>
            </a:extLst>
          </p:cNvPr>
          <p:cNvSpPr>
            <a:spLocks noGrp="1"/>
          </p:cNvSpPr>
          <p:nvPr/>
        </p:nvSpPr>
        <p:spPr>
          <a:xfrm>
            <a:off x="638175" y="6086475"/>
            <a:ext cx="10810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6CAF"/>
                </a:solidFill>
                <a:latin typeface="Microsoft YaHei"/>
                <a:ea typeface="Microsoft YaHei"/>
                <a:cs typeface="Microsoft YaHei"/>
              </a:rPr>
              <a:t>后续：紧凑探测头 + 多带统计判定的技术方案整理；再开展真实采集与样品验证。</a:t>
            </a:r>
          </a:p>
        </p:txBody>
      </p:sp>
    </p:spTree>
    <p:extLst>
      <p:ext uri="{BB962C8B-B14F-4D97-AF65-F5344CB8AC3E}">
        <p14:creationId xmlns:p14="http://schemas.microsoft.com/office/powerpoint/2010/main" val="17185941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3434</Words>
  <Application>Microsoft Office PowerPoint</Application>
  <DocSecurity>0</DocSecurity>
  <PresentationFormat>宽屏</PresentationFormat>
  <Paragraphs>525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Aptos</vt:lpstr>
      <vt:lpstr>Microsoft YaHei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HX xx</cp:lastModifiedBy>
  <cp:revision>1</cp:revision>
  <dcterms:created xsi:type="dcterms:W3CDTF">2026-10-02T15:11:04Z</dcterms:created>
  <dcterms:modified xsi:type="dcterms:W3CDTF">2026-10-02T15:17:48Z</dcterms:modified>
</cp:coreProperties>
</file>